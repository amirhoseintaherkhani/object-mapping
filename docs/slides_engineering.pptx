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188952" cy="73152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Real-Time Pipeline: Engineering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CCD1D9"/>
                </a:solidFill>
              </a:rPr>
              <a:t>What broke, how we fixed it, and what we had to revert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D1D9"/>
                </a:solidFill>
              </a:rPr>
              <a:t>ObjectMapping Project  |  UNH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Overview — Six Problem Chains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33A"/>
                </a:solidFill>
              </a:rPr>
              <a:t>Adapting the PyTorch reference counter (12–18 fps) to the Apple Neural Engine (30–45 fps) required solving a chain of interdependent problems. Each fix exposed the next issue.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965960"/>
            <a:ext cx="1737360" cy="2560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14884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CoreML
Export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06324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FFFFFF"/>
                </a:solidFill>
              </a:rPr>
              <a:t>NMS bug
Conf shift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29968" y="297180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CD1D9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176272" y="1965960"/>
            <a:ext cx="1737360" cy="2560320"/>
          </a:xfrm>
          <a:prstGeom prst="rect">
            <a:avLst/>
          </a:prstGeom>
          <a:solidFill>
            <a:srgbClr val="27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67712" y="214884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Frame
Skipping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67712" y="306324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FFFFFF"/>
                </a:solidFill>
              </a:rPr>
              <a:t>np.empty bug
Kalman revert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97180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CD1D9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78224" y="1965960"/>
            <a:ext cx="1737360" cy="2560320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69664" y="214884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Async
Capture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9664" y="306324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FFFFFF"/>
                </a:solidFill>
              </a:rPr>
              <a:t>None frame
SIGABRT crash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33872" y="297180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CD1D9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0176" y="1965960"/>
            <a:ext cx="1737360" cy="2560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71616" y="214884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ByteTrack
Calibration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71616" y="306324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FFFFFF"/>
                </a:solidFill>
              </a:rPr>
              <a:t>track_thresh
track_buffer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35824" y="297180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CD1D9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82128" y="1965960"/>
            <a:ext cx="1737360" cy="2560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73568" y="214884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Ghost Zone
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73568" y="306324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FFFFFF"/>
                </a:solidFill>
              </a:rPr>
              <a:t>6+ iterations
Per-class tuning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37776" y="297180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CD1D9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84080" y="1965960"/>
            <a:ext cx="1737360" cy="256032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0" y="214884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Arm-Opening
Fix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306324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FFFFFF"/>
                </a:solidFill>
              </a:rPr>
              <a:t>Live-track
proximity check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CoreML Export Bugs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5577840" cy="53035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Problem 1 — NMS Baked Into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920240"/>
            <a:ext cx="5303520" cy="8686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659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D1D9"/>
                </a:solidFill>
              </a:rPr>
              <a:t>Symptom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6771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Every inference call returned empty boxes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944368"/>
            <a:ext cx="5303520" cy="8686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99008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D1D9"/>
                </a:solidFill>
              </a:rPr>
              <a:t>Cause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291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nms=True bakes NMS into the CoreML graph; Ultralytics 8.x
cannot parse the resulting tensor shape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968496"/>
            <a:ext cx="5303520" cy="8686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01421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D1D9"/>
                </a:solidFill>
              </a:rPr>
              <a:t>Fix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31596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Export without nms=True — NMS stays in Python, negligible overhead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4992624"/>
            <a:ext cx="5303520" cy="8686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503834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D1D9"/>
                </a:solidFill>
              </a:rPr>
              <a:t>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34009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✓ Fixed completely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143000"/>
            <a:ext cx="5577840" cy="53035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23444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Problem 2 — Confidence Distribution Shift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1920240"/>
            <a:ext cx="5303520" cy="8686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19659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D1D9"/>
                </a:solidFill>
              </a:rPr>
              <a:t>Symptom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26771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No car tracks created; cars filtered before reaching tracker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2944368"/>
            <a:ext cx="5303520" cy="8686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299008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D1D9"/>
                </a:solidFill>
              </a:rPr>
              <a:t>Cause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291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CoreML shifts car confidence from PyTorch's 0.45+ range
down to 0.15–0.37 — three layers all filtered cars out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5080" y="3968496"/>
            <a:ext cx="5303520" cy="8686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01421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D1D9"/>
                </a:solidFill>
              </a:rPr>
              <a:t>Fix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31596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COREML_CONF_FLOOR=0.10  |  conf_car=0.15
ByteTrack track_thresh=0.15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4992624"/>
            <a:ext cx="5303520" cy="8686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503834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D1D9"/>
                </a:solidFill>
              </a:rPr>
              <a:t>Outcome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534009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✓ Fixed — but requires careful threshold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Frame Skipping — Three Attempts to Get It Right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3749039" cy="53949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34747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Attempt 1  — np.empty
on skip frames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347471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Passed np.empty((0,6)) to ByteTrack
on every skipped frame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98648"/>
            <a:ext cx="347471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Reasoning: signal 'nothing seen'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39896"/>
            <a:ext cx="347471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Result: ALL tracks entered 'lost'
state every other frame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81144"/>
            <a:ext cx="347471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track_age stalled → MIN_TRACK_AGE
never reached → nothing counted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22392"/>
            <a:ext cx="347471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✗  Broke counting entirely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143000"/>
            <a:ext cx="3749039" cy="5394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39" y="1234440"/>
            <a:ext cx="34747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Attempt 2  — Kalman
velocity prediction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39" y="2057400"/>
            <a:ext cx="347471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Tried np.empty so ByteTrack
would predict via Kalman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39" y="2898648"/>
            <a:ext cx="347471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Theory: Kalman estimates next
position from velocity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39" y="3739896"/>
            <a:ext cx="347471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Reality: diverged after 2–3 frames
→ IoU mismatch on next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39" y="4581144"/>
            <a:ext cx="347471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Track fragmentation got WORSE
than the original bug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39" y="5422392"/>
            <a:ext cx="347471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✗  Reverted after testing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598" y="1143000"/>
            <a:ext cx="3749039" cy="5394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8" y="1234440"/>
            <a:ext cx="34747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Final Fix  — pass
last_dets every frame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8" y="2057400"/>
            <a:ext cx="347471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Pass the most recent real
detection on ALL skip frames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8" y="2898648"/>
            <a:ext cx="347471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ByteTrack stays confirmed,
tracks never enter 'lost'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8" y="3739896"/>
            <a:ext cx="347471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Kalman updates correctly;
no position divergence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8" y="4581144"/>
            <a:ext cx="347471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track_age increments every
frame → counting works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8" y="5422392"/>
            <a:ext cx="347471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✓  Stable; in production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Async Capture — Two Hidden Bugs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11612880" cy="2468880"/>
          </a:xfrm>
          <a:prstGeom prst="rect">
            <a:avLst/>
          </a:prstGeom>
          <a:solidFill>
            <a:srgbClr val="F2F4F7"/>
          </a:solidFill>
          <a:ln w="9525">
            <a:solidFill>
              <a:srgbClr val="CCD1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2011680" cy="24688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None-Frame Bug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12344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5EA0"/>
                </a:solidFill>
              </a:rPr>
              <a:t>Symptom: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23444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A233A"/>
                </a:solidFill>
              </a:rPr>
              <a:t>AsyncCapture returns (True, None) when buffer is momentarily empty — video is alive but no frame produced yet.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1920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5EA0"/>
                </a:solidFill>
              </a:rPr>
              <a:t>Cause: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92024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A233A"/>
                </a:solidFill>
              </a:rPr>
              <a:t>Original guard 'if not ret' missed it. None passed to CoreML, which silently returned empty predictions → near-zero detections + artificially high throughput.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6517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5EA0"/>
                </a:solidFill>
              </a:rPr>
              <a:t>Fix: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65176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A233A"/>
                </a:solidFill>
              </a:rPr>
              <a:t>Add explicit 'if frame is None: sleep; continue' guard.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3227831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AE60"/>
                </a:solidFill>
              </a:rPr>
              <a:t>✓  Fixed — one 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94760"/>
            <a:ext cx="11612880" cy="2468880"/>
          </a:xfrm>
          <a:prstGeom prst="rect">
            <a:avLst/>
          </a:prstGeom>
          <a:solidFill>
            <a:srgbClr val="F2F4F7"/>
          </a:solidFill>
          <a:ln w="9525">
            <a:solidFill>
              <a:srgbClr val="CCD1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794760"/>
            <a:ext cx="2011680" cy="24688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8862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Long-Run SIGABRT Crash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38862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5EA0"/>
                </a:solidFill>
              </a:rPr>
              <a:t>Symptom: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88620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A233A"/>
                </a:solidFill>
              </a:rPr>
              <a:t>Process aborted (OS-level, not Python-catchable) after ~1 800 frames of inference on the 1920×1080 @ 60 fps custom video. Short clips never triggered 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45720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5EA0"/>
                </a:solidFill>
              </a:rPr>
              <a:t>Cause: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457200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A233A"/>
                </a:solidFill>
              </a:rPr>
              <a:t>Background reader thread churns frames into a ring buffer at full decode speed while the ANE processes at ~40 fps. Over hundreds of calls, the thread–ANE interaction accumulated until the ANE runtime aborted.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5303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5EA0"/>
                </a:solidFill>
              </a:rPr>
              <a:t>Fix: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530352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A233A"/>
                </a:solidFill>
              </a:rPr>
              <a:t>Replace AsyncCapture with SyncCapture for file sources. Async kept only for live/RTSP where dropping frames is correct.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5879591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AE60"/>
                </a:solidFill>
              </a:rPr>
              <a:t>✓  Fixed — no more crash on long videos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Ghost Zone System — Six Iterations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97280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33A"/>
                </a:solidFill>
              </a:rPr>
              <a:t>CoreML confidence jitter fragments tracks, causing double-counts. Ghost zones suppress re-detection of the same object. Getting the parameters right took six major iterations.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828800"/>
            <a:ext cx="1874519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8745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v1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1874520"/>
            <a:ext cx="1463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Flat 80px / 90f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12263" y="1874520"/>
            <a:ext cx="118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CD1D9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2331720"/>
            <a:ext cx="1874519" cy="502920"/>
          </a:xfrm>
          <a:prstGeom prst="rect">
            <a:avLst/>
          </a:prstGeom>
          <a:solidFill>
            <a:srgbClr val="F2F4F7"/>
          </a:solidFill>
          <a:ln w="9525">
            <a:solidFill>
              <a:srgbClr val="CCD1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377440"/>
            <a:ext cx="1783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233A"/>
                </a:solidFill>
              </a:rPr>
              <a:t>Worked for basic dedup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76271" y="1828800"/>
            <a:ext cx="1874519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21991" y="18745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23743" y="1874520"/>
            <a:ext cx="1463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Tighten to 40px/30f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9934" y="1874520"/>
            <a:ext cx="118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CD1D9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76271" y="2331720"/>
            <a:ext cx="1874519" cy="502920"/>
          </a:xfrm>
          <a:prstGeom prst="rect">
            <a:avLst/>
          </a:prstGeom>
          <a:solidFill>
            <a:srgbClr val="F2F4F7"/>
          </a:solidFill>
          <a:ln w="9525">
            <a:solidFill>
              <a:srgbClr val="CCD1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21991" y="2377440"/>
            <a:ext cx="1783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233A"/>
                </a:solidFill>
              </a:rPr>
              <a:t>✗ Blocked real pedestrians walking same path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23942" y="1828800"/>
            <a:ext cx="1874519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69662" y="18745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v3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1414" y="1874520"/>
            <a:ext cx="1463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Per-class params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07605" y="1874520"/>
            <a:ext cx="118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CD1D9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23942" y="2331720"/>
            <a:ext cx="1874519" cy="502920"/>
          </a:xfrm>
          <a:prstGeom prst="rect">
            <a:avLst/>
          </a:prstGeom>
          <a:solidFill>
            <a:srgbClr val="F2F4F7"/>
          </a:solidFill>
          <a:ln w="9525">
            <a:solidFill>
              <a:srgbClr val="CCD1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69662" y="2377440"/>
            <a:ext cx="1783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233A"/>
                </a:solidFill>
              </a:rPr>
              <a:t>Cars: 80px/90f  Persons: 80px/120f — resolved conflict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71613" y="1828800"/>
            <a:ext cx="1874519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17333" y="18745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v4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5" y="1874520"/>
            <a:ext cx="1463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Size-adaptive 0.8×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6" y="1874520"/>
            <a:ext cx="118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CD1D9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1613" y="2331720"/>
            <a:ext cx="1874519" cy="502920"/>
          </a:xfrm>
          <a:prstGeom prst="rect">
            <a:avLst/>
          </a:prstGeom>
          <a:solidFill>
            <a:srgbClr val="F2F4F7"/>
          </a:solidFill>
          <a:ln w="9525">
            <a:solidFill>
              <a:srgbClr val="CCD1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17333" y="2377440"/>
            <a:ext cx="1783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233A"/>
                </a:solidFill>
              </a:rPr>
              <a:t>✗ Adjacent-lane car suppressed — reverted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19284" y="1828800"/>
            <a:ext cx="1874519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65004" y="18745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v5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56" y="1874520"/>
            <a:ext cx="1463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Size-adaptive 0.6×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02947" y="1874520"/>
            <a:ext cx="118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CD1D9"/>
                </a:solidFill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19284" y="2331720"/>
            <a:ext cx="1874519" cy="502920"/>
          </a:xfrm>
          <a:prstGeom prst="rect">
            <a:avLst/>
          </a:prstGeom>
          <a:solidFill>
            <a:srgbClr val="F2F4F7"/>
          </a:solidFill>
          <a:ln w="9525">
            <a:solidFill>
              <a:srgbClr val="CCD1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65004" y="2377440"/>
            <a:ext cx="1783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233A"/>
                </a:solidFill>
              </a:rPr>
              <a:t>180px for close car, 30f timeout — current balance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966955" y="1828800"/>
            <a:ext cx="1874519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12675" y="18745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v6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14427" y="1874520"/>
            <a:ext cx="1463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Stop-car extension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66955" y="2331720"/>
            <a:ext cx="1874519" cy="502920"/>
          </a:xfrm>
          <a:prstGeom prst="rect">
            <a:avLst/>
          </a:prstGeom>
          <a:solidFill>
            <a:srgbClr val="F2F4F7"/>
          </a:solidFill>
          <a:ln w="9525">
            <a:solidFill>
              <a:srgbClr val="CCD1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12675" y="2377440"/>
            <a:ext cx="1783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233A"/>
                </a:solidFill>
              </a:rPr>
              <a:t>✗ Blocked new cars in same lane — reverted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" y="2971800"/>
            <a:ext cx="11704320" cy="109728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306324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8A8A"/>
                </a:solidFill>
              </a:rPr>
              <a:t>Per-class parameters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34747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Cars need short MIN_TRACK_AGE (fragments quickly); persons need long (filters arm-opening). One flat value cannot satisfy both.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" y="4206240"/>
            <a:ext cx="11704320" cy="109728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429768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8A8A"/>
                </a:solidFill>
              </a:rPr>
              <a:t>First centroid for persons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" y="4709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With MIN_TRACK_AGE=20, a person walks ~80px before the ghost check fires. Current centroid drifts to the radius edge and escapes. First centroid (where the track appeared) is the correct comparison point.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" y="5440680"/>
            <a:ext cx="11704320" cy="109728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55321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8A8A"/>
                </a:solidFill>
              </a:rPr>
              <a:t>Died-young asymmetry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" y="5943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Car died-young → ghost MUST be created (prevents same physical car being recounted after a confidence dip). Person died-young → NO ghost (short person fragments at crosswalk entries block the next legitimate pedestrian).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Arm-Opening Double-Count &amp; In-Car Person Suppression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5577840" cy="5577840"/>
          </a:xfrm>
          <a:prstGeom prst="rect">
            <a:avLst/>
          </a:prstGeom>
          <a:solidFill>
            <a:srgbClr val="27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Arm-Opening Double-Count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CCD1D9"/>
                </a:solidFill>
              </a:rPr>
              <a:t>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21408"/>
            <a:ext cx="5212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Person opens arms → YOLO loses original box, creates new one.
ByteTrack assigns new track ID (T2) while T1 still alive.
No ghost exists yet (T1 hasn't died) → ghost-zone check cannot help.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CCD1D9"/>
                </a:solidFill>
              </a:rPr>
              <a:t>Why standard fix failed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27248"/>
            <a:ext cx="5212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Cannot use ghost zones for a living track.
Lowering MIN_TRACK_AGE to catch it faster also counted real new people.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4048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CCD1D9"/>
                </a:solidFill>
              </a:rPr>
              <a:t>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33088"/>
            <a:ext cx="5212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Live-track proximity check at counting time:
Look up T1's centroid from 'age' frames ago — its position when T2 first appeared.
If distance &lt; GHOST_RADIUS, suppress T2 as a duplicate of a living T1.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84632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CCD1D9"/>
                </a:solidFill>
              </a:rPr>
              <a:t>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138928"/>
            <a:ext cx="5212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✓  Arm-opening no longer double-counted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143000"/>
            <a:ext cx="5577840" cy="5577840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2344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In-Car Person Suppression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82880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CCD1D9"/>
                </a:solidFill>
              </a:rPr>
              <a:t>Scenario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121408"/>
            <a:ext cx="5212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Overhead camera sees through windshield.
Driver / passengers detected as persons inside a car bounding box.
These are real people but must not be counted as pedestrians.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83464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CCD1D9"/>
                </a:solidFill>
              </a:rPr>
              <a:t>Why it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127248"/>
            <a:ext cx="5212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Without suppression, every occupied vehicle adds
phantom person counts to the total.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84048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CCD1D9"/>
                </a:solidFill>
              </a:rPr>
              <a:t>Solution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133088"/>
            <a:ext cx="5212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After each inference frame: remove any person detection
whose centroid falls inside a car bounding box,
before detections reach ByteTrack.
No in-car person track is ever created.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84632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CCD1D9"/>
                </a:solidFill>
              </a:rPr>
              <a:t>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138928"/>
            <a:ext cx="5212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✓  In-car persons suppressed cleanly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What We Could Not Fix — Three Reverted Attempts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9728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33A"/>
                </a:solidFill>
              </a:rPr>
              <a:t>Three attempts were developed, tested, and reverted because every fix overcorrected.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45920"/>
            <a:ext cx="11612880" cy="1554480"/>
          </a:xfrm>
          <a:prstGeom prst="rect">
            <a:avLst/>
          </a:prstGeom>
          <a:solidFill>
            <a:srgbClr val="F2F4F7"/>
          </a:solidFill>
          <a:ln w="9525">
            <a:solidFill>
              <a:srgbClr val="CCD1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645920"/>
            <a:ext cx="164592" cy="1554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1907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3A"/>
                </a:solidFill>
              </a:rPr>
              <a:t>Ghost radius 0.8×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75EA0"/>
                </a:solidFill>
              </a:rPr>
              <a:t>Problem: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A233A"/>
                </a:solidFill>
              </a:rPr>
              <a:t>Close-car fragment at &gt;180px from ghost zone centre → double-count.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1488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75EA0"/>
                </a:solidFill>
              </a:rPr>
              <a:t>Attempted: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450592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A233A"/>
                </a:solidFill>
              </a:rPr>
              <a:t>Widened ghost radius to 0.8× box width (e.g. 240px for 300px car).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14884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75EA0"/>
                </a:solidFill>
              </a:rPr>
              <a:t>Why reverted: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450592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A233A"/>
                </a:solidFill>
              </a:rPr>
              <a:t>Ghost now spanned the adjacent incoming lane → suppressed legitimate new cars.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310128"/>
            <a:ext cx="11612880" cy="1554480"/>
          </a:xfrm>
          <a:prstGeom prst="rect">
            <a:avLst/>
          </a:prstGeom>
          <a:solidFill>
            <a:srgbClr val="F2F4F7"/>
          </a:solidFill>
          <a:ln w="9525">
            <a:solidFill>
              <a:srgbClr val="CCD1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310128"/>
            <a:ext cx="164592" cy="1554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38328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3A"/>
                </a:solidFill>
              </a:rPr>
              <a:t>Stopped-car ghost extension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81304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75EA0"/>
                </a:solidFill>
              </a:rPr>
              <a:t>Problem: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11480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A233A"/>
                </a:solidFill>
              </a:rPr>
              <a:t>Car stopped at red light; track dies during wait; ghost expires; restart recounted.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81304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75EA0"/>
                </a:solidFill>
              </a:rPr>
              <a:t>Attempted: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411480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A233A"/>
                </a:solidFill>
              </a:rPr>
              <a:t>Track consecutive stationary frames; add that count to ghost timeout on death.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381304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75EA0"/>
                </a:solidFill>
              </a:rPr>
              <a:t>Why reverted: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4114800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A233A"/>
                </a:solidFill>
              </a:rPr>
              <a:t>Extension was too long in stop-and-go traffic → blocked the next real car in same lane.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974336"/>
            <a:ext cx="11612880" cy="1554480"/>
          </a:xfrm>
          <a:prstGeom prst="rect">
            <a:avLst/>
          </a:prstGeom>
          <a:solidFill>
            <a:srgbClr val="F2F4F7"/>
          </a:solidFill>
          <a:ln w="9525">
            <a:solidFill>
              <a:srgbClr val="CCD1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4974336"/>
            <a:ext cx="164592" cy="1554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04748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3A"/>
                </a:solidFill>
              </a:rPr>
              <a:t>np.empty on skip frames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47725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75EA0"/>
                </a:solidFill>
              </a:rPr>
              <a:t>Problem: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779008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A233A"/>
                </a:solidFill>
              </a:rPr>
              <a:t>Stale last_dets re-fed to ByteTrack each skip → Kalman velocity zeroed.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547725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75EA0"/>
                </a:solidFill>
              </a:rPr>
              <a:t>Attempted: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577900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A233A"/>
                </a:solidFill>
              </a:rPr>
              <a:t>Pass np.empty so ByteTrack uses its own Kalman prediction forward.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5477256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75EA0"/>
                </a:solidFill>
              </a:rPr>
              <a:t>Why reverted: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5779008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A233A"/>
                </a:solidFill>
              </a:rPr>
              <a:t>Kalman diverged after 2–3 skip frames → worse fragmentation than the original bug.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