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3"/>
    <p:sldId id="263" r:id="rId4"/>
    <p:sldId id="260" r:id="rId5"/>
    <p:sldId id="259" r:id="rId6"/>
    <p:sldId id="264" r:id="rId7"/>
    <p:sldId id="265" r:id="rId8"/>
    <p:sldId id="266" r:id="rId9"/>
    <p:sldId id="267" r:id="rId10"/>
    <p:sldId id="268" r:id="rId11"/>
    <p:sldId id="269" r:id="rId12"/>
    <p:sldId id="270" r:id="rId13"/>
    <p:sldId id="271" r:id="rId18"/>
    <p:sldId id="272" r:id="rId19"/>
    <p:sldId id="273" r:id="rId20"/>
    <p:sldId id="274" r:id="rId21"/>
    <p:sldId id="275" r:id="rId22"/>
    <p:sldId id="276" r:id="rId23"/>
    <p:sldId id="277" r:id="rId24"/>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508A"/>
    <a:srgbClr val="192339"/>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423"/>
    <p:restoredTop sz="94702"/>
  </p:normalViewPr>
  <p:slideViewPr>
    <p:cSldViewPr snapToGrid="0" snapToObjects="1">
      <p:cViewPr varScale="1">
        <p:scale>
          <a:sx n="113" d="100"/>
          <a:sy n="113" d="100"/>
        </p:scale>
        <p:origin x="72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2">
            <a:lumMod val="75000"/>
          </a:schemeClr>
        </a:solidFill>
        <a:effectLst/>
      </p:bgPr>
    </p:bg>
    <p:spTree>
      <p:nvGrpSpPr>
        <p:cNvPr id="1" name=""/>
        <p:cNvGrpSpPr/>
        <p:nvPr/>
      </p:nvGrpSpPr>
      <p:grpSpPr>
        <a:xfrm>
          <a:off x="0" y="0"/>
          <a:ext cx="0" cy="0"/>
          <a:chOff x="0" y="0"/>
          <a:chExt cx="0" cy="0"/>
        </a:xfrm>
      </p:grpSpPr>
      <p:sp>
        <p:nvSpPr>
          <p:cNvPr id="3" name="TextBox 2"/>
          <p:cNvSpPr txBox="1"/>
          <p:nvPr/>
        </p:nvSpPr>
        <p:spPr>
          <a:xfrm>
            <a:off x="928052" y="2353733"/>
            <a:ext cx="10332720" cy="707886"/>
          </a:xfrm>
          <a:prstGeom prst="rect">
            <a:avLst/>
          </a:prstGeom>
          <a:noFill/>
        </p:spPr>
        <p:txBody>
          <a:bodyPr wrap="square">
            <a:spAutoFit/>
          </a:bodyPr>
          <a:lstStyle/>
          <a:p>
            <a:pPr algn="ctr"/>
            <a:r>
              <a:rPr lang="en-US" sz="4000" b="1" dirty="0">
                <a:solidFill>
                  <a:srgbClr val="FFFFFF"/>
                </a:solidFill>
                <a:latin typeface="Times New Roman" panose="02020603050405020304" pitchFamily="18" charset="0"/>
                <a:cs typeface="Times New Roman" panose="02020603050405020304" pitchFamily="18" charset="0"/>
              </a:rPr>
              <a:t>Addressing m</a:t>
            </a:r>
            <a:r>
              <a:rPr sz="4000" b="1" dirty="0">
                <a:solidFill>
                  <a:srgbClr val="FFFFFF"/>
                </a:solidFill>
                <a:latin typeface="Times New Roman" panose="02020603050405020304" pitchFamily="18" charset="0"/>
                <a:cs typeface="Times New Roman" panose="02020603050405020304" pitchFamily="18" charset="0"/>
              </a:rPr>
              <a:t>odel Limitations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731520"/>
          </a:xfrm>
          <a:prstGeom prst="rect">
            <a:avLst/>
          </a:prstGeom>
          <a:noFill/>
        </p:spPr>
        <p:txBody>
          <a:bodyPr wrap="square">
            <a:spAutoFit/>
          </a:bodyPr>
          <a:lstStyle/>
          <a:p>
            <a:pPr algn="l"/>
            <a:r>
              <a:rPr sz="2400" b="1">
                <a:solidFill>
                  <a:srgbClr val="FFFFFF"/>
                </a:solidFill>
              </a:rPr>
              <a:t>Limitations — Priority Order</a:t>
            </a:r>
          </a:p>
        </p:txBody>
      </p:sp>
      <p:sp>
        <p:nvSpPr>
          <p:cNvPr id="4" name="Rectangle 3"/>
          <p:cNvSpPr/>
          <p:nvPr/>
        </p:nvSpPr>
        <p:spPr>
          <a:xfrm>
            <a:off x="2308037" y="1728479"/>
            <a:ext cx="7335922" cy="475488"/>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5" name="TextBox 4"/>
          <p:cNvSpPr txBox="1"/>
          <p:nvPr/>
        </p:nvSpPr>
        <p:spPr>
          <a:xfrm>
            <a:off x="2431908" y="1775758"/>
            <a:ext cx="896112" cy="307777"/>
          </a:xfrm>
          <a:prstGeom prst="rect">
            <a:avLst/>
          </a:prstGeom>
          <a:noFill/>
        </p:spPr>
        <p:txBody>
          <a:bodyPr wrap="square">
            <a:spAutoFit/>
          </a:bodyPr>
          <a:lstStyle/>
          <a:p>
            <a:pPr algn="l"/>
            <a:r>
              <a:rPr sz="1400" b="1" dirty="0">
                <a:solidFill>
                  <a:srgbClr val="FFFFFF"/>
                </a:solidFill>
                <a:latin typeface="Times New Roman" panose="02020603050405020304" pitchFamily="18" charset="0"/>
                <a:cs typeface="Times New Roman" panose="02020603050405020304" pitchFamily="18" charset="0"/>
              </a:rPr>
              <a:t>Priority</a:t>
            </a:r>
          </a:p>
        </p:txBody>
      </p:sp>
      <p:sp>
        <p:nvSpPr>
          <p:cNvPr id="6" name="TextBox 5"/>
          <p:cNvSpPr txBox="1"/>
          <p:nvPr/>
        </p:nvSpPr>
        <p:spPr>
          <a:xfrm>
            <a:off x="3738316" y="1792487"/>
            <a:ext cx="2104633" cy="307777"/>
          </a:xfrm>
          <a:prstGeom prst="rect">
            <a:avLst/>
          </a:prstGeom>
          <a:noFill/>
        </p:spPr>
        <p:txBody>
          <a:bodyPr wrap="square">
            <a:spAutoFit/>
          </a:bodyPr>
          <a:lstStyle/>
          <a:p>
            <a:pPr algn="l"/>
            <a:r>
              <a:rPr sz="1400" b="1" dirty="0">
                <a:solidFill>
                  <a:srgbClr val="FFFFFF"/>
                </a:solidFill>
                <a:latin typeface="Times New Roman" panose="02020603050405020304" pitchFamily="18" charset="0"/>
                <a:cs typeface="Times New Roman" panose="02020603050405020304" pitchFamily="18" charset="0"/>
              </a:rPr>
              <a:t>Limitation</a:t>
            </a:r>
          </a:p>
        </p:txBody>
      </p:sp>
      <p:sp>
        <p:nvSpPr>
          <p:cNvPr id="7" name="TextBox 6"/>
          <p:cNvSpPr txBox="1"/>
          <p:nvPr/>
        </p:nvSpPr>
        <p:spPr>
          <a:xfrm>
            <a:off x="6404549" y="1823876"/>
            <a:ext cx="3173626" cy="307777"/>
          </a:xfrm>
          <a:prstGeom prst="rect">
            <a:avLst/>
          </a:prstGeom>
          <a:noFill/>
        </p:spPr>
        <p:txBody>
          <a:bodyPr wrap="square">
            <a:spAutoFit/>
          </a:bodyPr>
          <a:lstStyle/>
          <a:p>
            <a:pPr marL="0" algn="l" defTabSz="457200" rtl="0" eaLnBrk="1" latinLnBrk="0" hangingPunct="1"/>
            <a:r>
              <a:rPr lang="en-US" sz="1400" b="1" dirty="0">
                <a:solidFill>
                  <a:srgbClr val="FFFFFF"/>
                </a:solidFill>
                <a:latin typeface="Times New Roman" panose="02020603050405020304" pitchFamily="18" charset="0"/>
                <a:cs typeface="Times New Roman" panose="02020603050405020304" pitchFamily="18" charset="0"/>
              </a:rPr>
              <a:t>Consequence</a:t>
            </a:r>
            <a:endParaRPr sz="1400" b="1" dirty="0">
              <a:solidFill>
                <a:srgbClr val="FFFFFF"/>
              </a:solidFill>
              <a:latin typeface="Times New Roman" panose="02020603050405020304" pitchFamily="18" charset="0"/>
              <a:cs typeface="Times New Roman" panose="02020603050405020304" pitchFamily="18" charset="0"/>
            </a:endParaRPr>
          </a:p>
        </p:txBody>
      </p:sp>
      <p:sp>
        <p:nvSpPr>
          <p:cNvPr id="9" name="Rectangle 8"/>
          <p:cNvSpPr/>
          <p:nvPr/>
        </p:nvSpPr>
        <p:spPr>
          <a:xfrm>
            <a:off x="2308037" y="2203967"/>
            <a:ext cx="7335922" cy="475488"/>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11" name="TextBox 10"/>
          <p:cNvSpPr txBox="1"/>
          <p:nvPr/>
        </p:nvSpPr>
        <p:spPr>
          <a:xfrm>
            <a:off x="2682513" y="2291669"/>
            <a:ext cx="256032" cy="292388"/>
          </a:xfrm>
          <a:prstGeom prst="rect">
            <a:avLst/>
          </a:prstGeom>
          <a:solidFill>
            <a:schemeClr val="tx2">
              <a:lumMod val="75000"/>
            </a:schemeClr>
          </a:solidFill>
        </p:spPr>
        <p:txBody>
          <a:bodyPr wrap="square">
            <a:spAutoFit/>
          </a:bodyPr>
          <a:lstStyle/>
          <a:p>
            <a:pPr algn="ctr"/>
            <a:r>
              <a:rPr sz="1300" b="1" dirty="0">
                <a:solidFill>
                  <a:srgbClr val="FFFFFF"/>
                </a:solidFill>
                <a:latin typeface="Times New Roman" panose="02020603050405020304" pitchFamily="18" charset="0"/>
                <a:cs typeface="Times New Roman" panose="02020603050405020304" pitchFamily="18" charset="0"/>
              </a:rPr>
              <a:t>1</a:t>
            </a:r>
          </a:p>
        </p:txBody>
      </p:sp>
      <p:sp>
        <p:nvSpPr>
          <p:cNvPr id="12" name="TextBox 11"/>
          <p:cNvSpPr txBox="1"/>
          <p:nvPr/>
        </p:nvSpPr>
        <p:spPr>
          <a:xfrm>
            <a:off x="3738316" y="2267975"/>
            <a:ext cx="2104633" cy="284693"/>
          </a:xfrm>
          <a:prstGeom prst="rect">
            <a:avLst/>
          </a:prstGeom>
          <a:noFill/>
        </p:spPr>
        <p:txBody>
          <a:bodyPr wrap="square">
            <a:spAutoFit/>
          </a:bodyPr>
          <a:lstStyle/>
          <a:p>
            <a:r>
              <a:rPr lang="en-US" sz="1250" dirty="0">
                <a:solidFill>
                  <a:srgbClr val="1A233A"/>
                </a:solidFill>
                <a:latin typeface="Times New Roman" panose="02020603050405020304" pitchFamily="18" charset="0"/>
                <a:cs typeface="Times New Roman" panose="02020603050405020304" pitchFamily="18" charset="0"/>
              </a:rPr>
              <a:t>Model too small (YOLOv8s)</a:t>
            </a:r>
          </a:p>
        </p:txBody>
      </p:sp>
      <p:sp>
        <p:nvSpPr>
          <p:cNvPr id="13" name="TextBox 12"/>
          <p:cNvSpPr txBox="1"/>
          <p:nvPr/>
        </p:nvSpPr>
        <p:spPr>
          <a:xfrm>
            <a:off x="6404549" y="2299364"/>
            <a:ext cx="3173626" cy="284693"/>
          </a:xfrm>
          <a:prstGeom prst="rect">
            <a:avLst/>
          </a:prstGeom>
          <a:noFill/>
        </p:spPr>
        <p:txBody>
          <a:bodyPr wrap="square">
            <a:spAutoFit/>
          </a:bodyPr>
          <a:lstStyle/>
          <a:p>
            <a:r>
              <a:rPr lang="en-US" sz="1250" dirty="0">
                <a:solidFill>
                  <a:srgbClr val="1A233A"/>
                </a:solidFill>
                <a:latin typeface="Times New Roman" panose="02020603050405020304" pitchFamily="18" charset="0"/>
                <a:cs typeface="Times New Roman" panose="02020603050405020304" pitchFamily="18" charset="0"/>
              </a:rPr>
              <a:t>Insufficient capacity</a:t>
            </a:r>
          </a:p>
        </p:txBody>
      </p:sp>
      <p:sp>
        <p:nvSpPr>
          <p:cNvPr id="33" name="Rectangle 32"/>
          <p:cNvSpPr/>
          <p:nvPr/>
        </p:nvSpPr>
        <p:spPr>
          <a:xfrm>
            <a:off x="2308037" y="2688862"/>
            <a:ext cx="7335922" cy="475488"/>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35" name="TextBox 34"/>
          <p:cNvSpPr txBox="1"/>
          <p:nvPr/>
        </p:nvSpPr>
        <p:spPr>
          <a:xfrm>
            <a:off x="2682513" y="2776564"/>
            <a:ext cx="256032" cy="292388"/>
          </a:xfrm>
          <a:prstGeom prst="rect">
            <a:avLst/>
          </a:prstGeom>
          <a:solidFill>
            <a:schemeClr val="tx2">
              <a:lumMod val="75000"/>
            </a:schemeClr>
          </a:solidFill>
        </p:spPr>
        <p:txBody>
          <a:bodyPr wrap="square">
            <a:spAutoFit/>
          </a:bodyPr>
          <a:lstStyle/>
          <a:p>
            <a:pPr algn="ctr"/>
            <a:r>
              <a:rPr lang="en-US" sz="1300" b="1" dirty="0">
                <a:solidFill>
                  <a:srgbClr val="FFFFFF"/>
                </a:solidFill>
                <a:latin typeface="Times New Roman" panose="02020603050405020304" pitchFamily="18" charset="0"/>
                <a:cs typeface="Times New Roman" panose="02020603050405020304" pitchFamily="18" charset="0"/>
              </a:rPr>
              <a:t>3</a:t>
            </a:r>
            <a:endParaRPr sz="1300" b="1" dirty="0">
              <a:solidFill>
                <a:srgbClr val="FFFFFF"/>
              </a:solidFill>
              <a:latin typeface="Times New Roman" panose="02020603050405020304" pitchFamily="18" charset="0"/>
              <a:cs typeface="Times New Roman" panose="02020603050405020304" pitchFamily="18" charset="0"/>
            </a:endParaRPr>
          </a:p>
        </p:txBody>
      </p:sp>
      <p:sp>
        <p:nvSpPr>
          <p:cNvPr id="36" name="TextBox 35"/>
          <p:cNvSpPr txBox="1"/>
          <p:nvPr/>
        </p:nvSpPr>
        <p:spPr>
          <a:xfrm>
            <a:off x="3738316" y="2752870"/>
            <a:ext cx="2104633" cy="284693"/>
          </a:xfrm>
          <a:prstGeom prst="rect">
            <a:avLst/>
          </a:prstGeom>
          <a:noFill/>
        </p:spPr>
        <p:txBody>
          <a:bodyPr wrap="square">
            <a:spAutoFit/>
          </a:bodyPr>
          <a:lstStyle/>
          <a:p>
            <a:pPr algn="l"/>
            <a:r>
              <a:rPr sz="1250" b="0">
                <a:solidFill>
                  <a:srgbClr val="1A233A"/>
                </a:solidFill>
                <a:latin typeface="Times New Roman" panose="02020603050405020304" pitchFamily="18" charset="0"/>
                <a:cs typeface="Times New Roman" panose="02020603050405020304" pitchFamily="18" charset="0"/>
              </a:rPr>
              <a:t>Tracker is IoU-only</a:t>
            </a:r>
          </a:p>
        </p:txBody>
      </p:sp>
      <p:sp>
        <p:nvSpPr>
          <p:cNvPr id="37" name="TextBox 36"/>
          <p:cNvSpPr txBox="1"/>
          <p:nvPr/>
        </p:nvSpPr>
        <p:spPr>
          <a:xfrm>
            <a:off x="6404549" y="2784259"/>
            <a:ext cx="3173626" cy="284693"/>
          </a:xfrm>
          <a:prstGeom prst="rect">
            <a:avLst/>
          </a:prstGeom>
          <a:noFill/>
        </p:spPr>
        <p:txBody>
          <a:bodyPr wrap="square">
            <a:spAutoFit/>
          </a:bodyPr>
          <a:lstStyle/>
          <a:p>
            <a:pPr algn="l"/>
            <a:r>
              <a:rPr sz="1250" b="0" dirty="0">
                <a:solidFill>
                  <a:srgbClr val="1A233A"/>
                </a:solidFill>
                <a:latin typeface="Times New Roman" panose="02020603050405020304" pitchFamily="18" charset="0"/>
                <a:cs typeface="Times New Roman" panose="02020603050405020304" pitchFamily="18" charset="0"/>
              </a:rPr>
              <a:t>ID switches on crossing paths</a:t>
            </a:r>
          </a:p>
        </p:txBody>
      </p:sp>
      <p:sp>
        <p:nvSpPr>
          <p:cNvPr id="39" name="Rectangle 38"/>
          <p:cNvSpPr/>
          <p:nvPr/>
        </p:nvSpPr>
        <p:spPr>
          <a:xfrm>
            <a:off x="2308037" y="3173757"/>
            <a:ext cx="7335922" cy="475488"/>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1" name="TextBox 40"/>
          <p:cNvSpPr txBox="1"/>
          <p:nvPr/>
        </p:nvSpPr>
        <p:spPr>
          <a:xfrm>
            <a:off x="2682513" y="3261459"/>
            <a:ext cx="256032" cy="292388"/>
          </a:xfrm>
          <a:prstGeom prst="rect">
            <a:avLst/>
          </a:prstGeom>
          <a:solidFill>
            <a:schemeClr val="tx2">
              <a:lumMod val="75000"/>
            </a:schemeClr>
          </a:solidFill>
        </p:spPr>
        <p:txBody>
          <a:bodyPr wrap="square">
            <a:spAutoFit/>
          </a:bodyPr>
          <a:lstStyle/>
          <a:p>
            <a:pPr algn="ctr"/>
            <a:r>
              <a:rPr lang="en-US" sz="1300" b="1" dirty="0">
                <a:solidFill>
                  <a:srgbClr val="FFFFFF"/>
                </a:solidFill>
                <a:latin typeface="Times New Roman" panose="02020603050405020304" pitchFamily="18" charset="0"/>
                <a:cs typeface="Times New Roman" panose="02020603050405020304" pitchFamily="18" charset="0"/>
              </a:rPr>
              <a:t>4</a:t>
            </a:r>
            <a:endParaRPr sz="1300" b="1" dirty="0">
              <a:solidFill>
                <a:srgbClr val="FFFFFF"/>
              </a:solidFill>
              <a:latin typeface="Times New Roman" panose="02020603050405020304" pitchFamily="18" charset="0"/>
              <a:cs typeface="Times New Roman" panose="02020603050405020304" pitchFamily="18" charset="0"/>
            </a:endParaRPr>
          </a:p>
        </p:txBody>
      </p:sp>
      <p:sp>
        <p:nvSpPr>
          <p:cNvPr id="42" name="TextBox 41"/>
          <p:cNvSpPr txBox="1"/>
          <p:nvPr/>
        </p:nvSpPr>
        <p:spPr>
          <a:xfrm>
            <a:off x="3738316" y="3237765"/>
            <a:ext cx="2104633" cy="284693"/>
          </a:xfrm>
          <a:prstGeom prst="rect">
            <a:avLst/>
          </a:prstGeom>
          <a:noFill/>
        </p:spPr>
        <p:txBody>
          <a:bodyPr wrap="square">
            <a:spAutoFit/>
          </a:bodyPr>
          <a:lstStyle/>
          <a:p>
            <a:pPr algn="l"/>
            <a:r>
              <a:rPr sz="1250" b="0">
                <a:solidFill>
                  <a:srgbClr val="1A233A"/>
                </a:solidFill>
                <a:latin typeface="Times New Roman" panose="02020603050405020304" pitchFamily="18" charset="0"/>
                <a:cs typeface="Times New Roman" panose="02020603050405020304" pitchFamily="18" charset="0"/>
              </a:rPr>
              <a:t>Person detection weak</a:t>
            </a:r>
          </a:p>
        </p:txBody>
      </p:sp>
      <p:sp>
        <p:nvSpPr>
          <p:cNvPr id="43" name="TextBox 42"/>
          <p:cNvSpPr txBox="1"/>
          <p:nvPr/>
        </p:nvSpPr>
        <p:spPr>
          <a:xfrm>
            <a:off x="6404549" y="3269154"/>
            <a:ext cx="3173626" cy="284693"/>
          </a:xfrm>
          <a:prstGeom prst="rect">
            <a:avLst/>
          </a:prstGeom>
          <a:noFill/>
        </p:spPr>
        <p:txBody>
          <a:bodyPr wrap="square">
            <a:spAutoFit/>
          </a:bodyPr>
          <a:lstStyle/>
          <a:p>
            <a:pPr algn="l"/>
            <a:r>
              <a:rPr sz="1250" b="0" dirty="0">
                <a:solidFill>
                  <a:srgbClr val="1A233A"/>
                </a:solidFill>
                <a:latin typeface="Times New Roman" panose="02020603050405020304" pitchFamily="18" charset="0"/>
                <a:cs typeface="Times New Roman" panose="02020603050405020304" pitchFamily="18" charset="0"/>
              </a:rPr>
              <a:t>Resolved by #2; add class weighting if needed</a:t>
            </a:r>
          </a:p>
        </p:txBody>
      </p:sp>
      <p:sp>
        <p:nvSpPr>
          <p:cNvPr id="45" name="Rectangle 44"/>
          <p:cNvSpPr/>
          <p:nvPr/>
        </p:nvSpPr>
        <p:spPr>
          <a:xfrm>
            <a:off x="2308037" y="3658652"/>
            <a:ext cx="7335922" cy="475488"/>
          </a:xfrm>
          <a:prstGeom prst="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Times New Roman" panose="02020603050405020304" pitchFamily="18" charset="0"/>
              <a:cs typeface="Times New Roman" panose="02020603050405020304" pitchFamily="18" charset="0"/>
            </a:endParaRPr>
          </a:p>
        </p:txBody>
      </p:sp>
      <p:sp>
        <p:nvSpPr>
          <p:cNvPr id="47" name="TextBox 46"/>
          <p:cNvSpPr txBox="1"/>
          <p:nvPr/>
        </p:nvSpPr>
        <p:spPr>
          <a:xfrm>
            <a:off x="2682513" y="3736947"/>
            <a:ext cx="256032" cy="292388"/>
          </a:xfrm>
          <a:prstGeom prst="rect">
            <a:avLst/>
          </a:prstGeom>
          <a:solidFill>
            <a:schemeClr val="tx2">
              <a:lumMod val="75000"/>
            </a:schemeClr>
          </a:solidFill>
        </p:spPr>
        <p:txBody>
          <a:bodyPr wrap="square">
            <a:spAutoFit/>
          </a:bodyPr>
          <a:lstStyle/>
          <a:p>
            <a:pPr algn="ctr"/>
            <a:r>
              <a:rPr lang="en-US" sz="1300" b="1" dirty="0">
                <a:solidFill>
                  <a:srgbClr val="FFFFFF"/>
                </a:solidFill>
                <a:latin typeface="Times New Roman" panose="02020603050405020304" pitchFamily="18" charset="0"/>
                <a:cs typeface="Times New Roman" panose="02020603050405020304" pitchFamily="18" charset="0"/>
              </a:rPr>
              <a:t>5</a:t>
            </a:r>
            <a:endParaRPr sz="1300" b="1" dirty="0">
              <a:solidFill>
                <a:srgbClr val="FFFFFF"/>
              </a:solidFill>
              <a:latin typeface="Times New Roman" panose="02020603050405020304" pitchFamily="18" charset="0"/>
              <a:cs typeface="Times New Roman" panose="02020603050405020304" pitchFamily="18" charset="0"/>
            </a:endParaRPr>
          </a:p>
        </p:txBody>
      </p:sp>
      <p:sp>
        <p:nvSpPr>
          <p:cNvPr id="48" name="TextBox 47"/>
          <p:cNvSpPr txBox="1"/>
          <p:nvPr/>
        </p:nvSpPr>
        <p:spPr>
          <a:xfrm>
            <a:off x="3738316" y="3713253"/>
            <a:ext cx="2104633" cy="284693"/>
          </a:xfrm>
          <a:prstGeom prst="rect">
            <a:avLst/>
          </a:prstGeom>
          <a:noFill/>
        </p:spPr>
        <p:txBody>
          <a:bodyPr wrap="square">
            <a:spAutoFit/>
          </a:bodyPr>
          <a:lstStyle/>
          <a:p>
            <a:pPr algn="l"/>
            <a:r>
              <a:rPr lang="en-US" sz="1250" b="0" dirty="0">
                <a:solidFill>
                  <a:srgbClr val="1A233A"/>
                </a:solidFill>
                <a:latin typeface="Times New Roman" panose="02020603050405020304" pitchFamily="18" charset="0"/>
                <a:cs typeface="Times New Roman" panose="02020603050405020304" pitchFamily="18" charset="0"/>
              </a:rPr>
              <a:t>Only two classes</a:t>
            </a:r>
            <a:endParaRPr sz="1250" b="0" dirty="0">
              <a:solidFill>
                <a:srgbClr val="1A233A"/>
              </a:solidFill>
              <a:latin typeface="Times New Roman" panose="02020603050405020304" pitchFamily="18" charset="0"/>
              <a:cs typeface="Times New Roman" panose="02020603050405020304" pitchFamily="18" charset="0"/>
            </a:endParaRPr>
          </a:p>
        </p:txBody>
      </p:sp>
      <p:sp>
        <p:nvSpPr>
          <p:cNvPr id="49" name="TextBox 48"/>
          <p:cNvSpPr txBox="1"/>
          <p:nvPr/>
        </p:nvSpPr>
        <p:spPr>
          <a:xfrm>
            <a:off x="6404549" y="3744642"/>
            <a:ext cx="3173626" cy="284693"/>
          </a:xfrm>
          <a:prstGeom prst="rect">
            <a:avLst/>
          </a:prstGeom>
          <a:noFill/>
        </p:spPr>
        <p:txBody>
          <a:bodyPr wrap="square">
            <a:spAutoFit/>
          </a:bodyPr>
          <a:lstStyle/>
          <a:p>
            <a:pPr algn="l"/>
            <a:r>
              <a:rPr lang="en-US" sz="1250" dirty="0">
                <a:solidFill>
                  <a:srgbClr val="1A233A"/>
                </a:solidFill>
                <a:latin typeface="Times New Roman" panose="02020603050405020304" pitchFamily="18" charset="0"/>
                <a:cs typeface="Times New Roman" panose="02020603050405020304" pitchFamily="18" charset="0"/>
              </a:rPr>
              <a:t>Not detecting cyclists, scooters, etc.</a:t>
            </a:r>
            <a:endParaRPr sz="1250" b="0" dirty="0">
              <a:solidFill>
                <a:srgbClr val="1A233A"/>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88B1E231-23E3-59C6-1B02-533145D226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16E38F24-C640-471B-6CE3-D58C4DDB8BBC}"/>
              </a:ext>
            </a:extLst>
          </p:cNvPr>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a:extLst>
              <a:ext uri="{FF2B5EF4-FFF2-40B4-BE49-F238E27FC236}">
                <a16:creationId xmlns:a16="http://schemas.microsoft.com/office/drawing/2014/main" id="{7A9B7C4F-6AED-A423-7CF1-AB85BDDB58B6}"/>
              </a:ext>
            </a:extLst>
          </p:cNvPr>
          <p:cNvSpPr txBox="1"/>
          <p:nvPr/>
        </p:nvSpPr>
        <p:spPr>
          <a:xfrm>
            <a:off x="333692" y="176630"/>
            <a:ext cx="11521440" cy="461665"/>
          </a:xfrm>
          <a:prstGeom prst="rect">
            <a:avLst/>
          </a:prstGeom>
          <a:noFill/>
        </p:spPr>
        <p:txBody>
          <a:bodyPr wrap="square">
            <a:spAutoFit/>
          </a:bodyPr>
          <a:lstStyle/>
          <a:p>
            <a:pPr algn="l"/>
            <a:r>
              <a:rPr lang="en-US" sz="2400" b="1" dirty="0">
                <a:solidFill>
                  <a:srgbClr val="FFFFFF"/>
                </a:solidFill>
                <a:latin typeface="Times New Roman" panose="02020603050405020304" pitchFamily="18" charset="0"/>
                <a:cs typeface="Times New Roman" panose="02020603050405020304" pitchFamily="18" charset="0"/>
              </a:rPr>
              <a:t>New m</a:t>
            </a:r>
            <a:r>
              <a:rPr sz="2400" b="1" dirty="0">
                <a:solidFill>
                  <a:srgbClr val="FFFFFF"/>
                </a:solidFill>
                <a:latin typeface="Times New Roman" panose="02020603050405020304" pitchFamily="18" charset="0"/>
                <a:cs typeface="Times New Roman" panose="02020603050405020304" pitchFamily="18" charset="0"/>
              </a:rPr>
              <a:t>ode</a:t>
            </a:r>
            <a:r>
              <a:rPr lang="en-US" sz="2400" b="1" dirty="0">
                <a:solidFill>
                  <a:srgbClr val="FFFFFF"/>
                </a:solidFill>
                <a:latin typeface="Times New Roman" panose="02020603050405020304" pitchFamily="18" charset="0"/>
                <a:cs typeface="Times New Roman" panose="02020603050405020304" pitchFamily="18" charset="0"/>
              </a:rPr>
              <a:t>ls</a:t>
            </a:r>
            <a:endParaRPr sz="2400" b="1" dirty="0">
              <a:solidFill>
                <a:srgbClr val="FFFFFF"/>
              </a:solidFill>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FCC2008B-1046-14DB-BE46-BB132BD5918F}"/>
              </a:ext>
            </a:extLst>
          </p:cNvPr>
          <p:cNvGraphicFramePr>
            <a:graphicFrameLocks noGrp="1"/>
          </p:cNvGraphicFramePr>
          <p:nvPr>
            <p:extLst>
              <p:ext uri="{D42A27DB-BD31-4B8C-83A1-F6EECF244321}">
                <p14:modId xmlns:p14="http://schemas.microsoft.com/office/powerpoint/2010/main" val="2721474311"/>
              </p:ext>
            </p:extLst>
          </p:nvPr>
        </p:nvGraphicFramePr>
        <p:xfrm>
          <a:off x="2031470" y="1433877"/>
          <a:ext cx="8125884" cy="702400"/>
        </p:xfrm>
        <a:graphic>
          <a:graphicData uri="http://schemas.openxmlformats.org/drawingml/2006/table">
            <a:tbl>
              <a:tblPr firstRow="1" bandRow="1">
                <a:tableStyleId>{5C22544A-7EE6-4342-B048-85BDC9FD1C3A}</a:tableStyleId>
              </a:tblPr>
              <a:tblGrid>
                <a:gridCol w="4062942">
                  <a:extLst>
                    <a:ext uri="{9D8B030D-6E8A-4147-A177-3AD203B41FA5}">
                      <a16:colId xmlns:a16="http://schemas.microsoft.com/office/drawing/2014/main" val="3063615431"/>
                    </a:ext>
                  </a:extLst>
                </a:gridCol>
                <a:gridCol w="4062942">
                  <a:extLst>
                    <a:ext uri="{9D8B030D-6E8A-4147-A177-3AD203B41FA5}">
                      <a16:colId xmlns:a16="http://schemas.microsoft.com/office/drawing/2014/main" val="1424683372"/>
                    </a:ext>
                  </a:extLst>
                </a:gridCol>
              </a:tblGrid>
              <a:tr h="331560">
                <a:tc>
                  <a:txBody>
                    <a:bodyPr/>
                    <a:lstStyle/>
                    <a:p>
                      <a:r>
                        <a:rPr lang="en-US" sz="1400" b="0" dirty="0">
                          <a:latin typeface="Times New Roman" panose="02020603050405020304" pitchFamily="18" charset="0"/>
                          <a:cs typeface="Times New Roman" panose="02020603050405020304" pitchFamily="18" charset="0"/>
                        </a:rPr>
                        <a:t>YOLO 11</a:t>
                      </a:r>
                    </a:p>
                  </a:txBody>
                  <a:tcPr>
                    <a:solidFill>
                      <a:schemeClr val="tx2">
                        <a:lumMod val="75000"/>
                      </a:schemeClr>
                    </a:solidFill>
                  </a:tcPr>
                </a:tc>
                <a:tc>
                  <a:txBody>
                    <a:bodyPr/>
                    <a:lstStyle/>
                    <a:p>
                      <a:r>
                        <a:rPr lang="en-US" sz="1400" b="0" dirty="0">
                          <a:latin typeface="Times New Roman" panose="02020603050405020304" pitchFamily="18" charset="0"/>
                          <a:cs typeface="Times New Roman" panose="02020603050405020304" pitchFamily="18" charset="0"/>
                        </a:rPr>
                        <a:t>YOLO 26</a:t>
                      </a:r>
                    </a:p>
                  </a:txBody>
                  <a:tcPr>
                    <a:solidFill>
                      <a:schemeClr val="tx2">
                        <a:lumMod val="75000"/>
                      </a:schemeClr>
                    </a:solidFill>
                  </a:tcPr>
                </a:tc>
                <a:extLst>
                  <a:ext uri="{0D108BD9-81ED-4DB2-BD59-A6C34878D82A}">
                    <a16:rowId xmlns:a16="http://schemas.microsoft.com/office/drawing/2014/main" val="1368318947"/>
                  </a:ext>
                </a:extLst>
              </a:tr>
              <a:tr h="370840">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US" sz="1400" b="0" dirty="0">
                          <a:latin typeface="Times New Roman" panose="02020603050405020304" pitchFamily="18" charset="0"/>
                          <a:cs typeface="Times New Roman" panose="02020603050405020304" pitchFamily="18" charset="0"/>
                        </a:rPr>
                        <a:t>Deploying on a </a:t>
                      </a:r>
                      <a:r>
                        <a:rPr lang="en-US" sz="1400" b="0" u="none" strike="noStrike" kern="1200" dirty="0">
                          <a:solidFill>
                            <a:schemeClr val="dk1"/>
                          </a:solidFill>
                          <a:effectLst/>
                          <a:latin typeface="Times New Roman" panose="02020603050405020304" pitchFamily="18" charset="0"/>
                          <a:ea typeface="+mn-ea"/>
                          <a:cs typeface="Times New Roman" panose="02020603050405020304" pitchFamily="18" charset="0"/>
                        </a:rPr>
                        <a:t>GPU</a:t>
                      </a:r>
                      <a:r>
                        <a:rPr lang="en-US" sz="1400" b="0" dirty="0">
                          <a:latin typeface="Times New Roman" panose="02020603050405020304" pitchFamily="18" charset="0"/>
                          <a:cs typeface="Times New Roman" panose="02020603050405020304" pitchFamily="18" charset="0"/>
                        </a:rPr>
                        <a:t> or Jetson hardware.</a:t>
                      </a:r>
                    </a:p>
                  </a:txBody>
                  <a:tcPr/>
                </a:tc>
                <a:tc>
                  <a:txBody>
                    <a:bodyPr/>
                    <a:lstStyle/>
                    <a:p>
                      <a:r>
                        <a:rPr lang="en-US" sz="1400" b="0" dirty="0">
                          <a:latin typeface="Times New Roman" panose="02020603050405020304" pitchFamily="18" charset="0"/>
                          <a:cs typeface="Times New Roman" panose="02020603050405020304" pitchFamily="18" charset="0"/>
                        </a:rPr>
                        <a:t>Deploying on a </a:t>
                      </a:r>
                      <a:r>
                        <a:rPr lang="en-US" sz="1400" b="0" u="none" strike="noStrike" kern="1200" dirty="0">
                          <a:solidFill>
                            <a:schemeClr val="dk1"/>
                          </a:solidFill>
                          <a:effectLst/>
                          <a:latin typeface="Times New Roman" panose="02020603050405020304" pitchFamily="18" charset="0"/>
                          <a:ea typeface="+mn-ea"/>
                          <a:cs typeface="Times New Roman" panose="02020603050405020304" pitchFamily="18" charset="0"/>
                        </a:rPr>
                        <a:t>Raspberry Pi or CPU</a:t>
                      </a:r>
                      <a:r>
                        <a:rPr lang="en-US" sz="1400" b="0" dirty="0">
                          <a:latin typeface="Times New Roman" panose="02020603050405020304" pitchFamily="18" charset="0"/>
                          <a:cs typeface="Times New Roman" panose="02020603050405020304" pitchFamily="18" charset="0"/>
                        </a:rPr>
                        <a:t>.</a:t>
                      </a:r>
                    </a:p>
                  </a:txBody>
                  <a:tcPr/>
                </a:tc>
                <a:extLst>
                  <a:ext uri="{0D108BD9-81ED-4DB2-BD59-A6C34878D82A}">
                    <a16:rowId xmlns:a16="http://schemas.microsoft.com/office/drawing/2014/main" val="757857045"/>
                  </a:ext>
                </a:extLst>
              </a:tr>
            </a:tbl>
          </a:graphicData>
        </a:graphic>
      </p:graphicFrame>
      <p:graphicFrame>
        <p:nvGraphicFramePr>
          <p:cNvPr id="5" name="Table 4">
            <a:extLst>
              <a:ext uri="{FF2B5EF4-FFF2-40B4-BE49-F238E27FC236}">
                <a16:creationId xmlns:a16="http://schemas.microsoft.com/office/drawing/2014/main" id="{E0E45C79-B96C-2C6F-F8C7-F923DA56CA22}"/>
              </a:ext>
            </a:extLst>
          </p:cNvPr>
          <p:cNvGraphicFramePr>
            <a:graphicFrameLocks noGrp="1"/>
          </p:cNvGraphicFramePr>
          <p:nvPr>
            <p:extLst>
              <p:ext uri="{D42A27DB-BD31-4B8C-83A1-F6EECF244321}">
                <p14:modId xmlns:p14="http://schemas.microsoft.com/office/powerpoint/2010/main" val="2712263932"/>
              </p:ext>
            </p:extLst>
          </p:nvPr>
        </p:nvGraphicFramePr>
        <p:xfrm>
          <a:off x="2045122" y="2851197"/>
          <a:ext cx="8125884" cy="2225040"/>
        </p:xfrm>
        <a:graphic>
          <a:graphicData uri="http://schemas.openxmlformats.org/drawingml/2006/table">
            <a:tbl>
              <a:tblPr firstRow="1" bandRow="1">
                <a:tableStyleId>{5C22544A-7EE6-4342-B048-85BDC9FD1C3A}</a:tableStyleId>
              </a:tblPr>
              <a:tblGrid>
                <a:gridCol w="2708628">
                  <a:extLst>
                    <a:ext uri="{9D8B030D-6E8A-4147-A177-3AD203B41FA5}">
                      <a16:colId xmlns:a16="http://schemas.microsoft.com/office/drawing/2014/main" val="497011166"/>
                    </a:ext>
                  </a:extLst>
                </a:gridCol>
                <a:gridCol w="2708628">
                  <a:extLst>
                    <a:ext uri="{9D8B030D-6E8A-4147-A177-3AD203B41FA5}">
                      <a16:colId xmlns:a16="http://schemas.microsoft.com/office/drawing/2014/main" val="3243194349"/>
                    </a:ext>
                  </a:extLst>
                </a:gridCol>
                <a:gridCol w="2708628">
                  <a:extLst>
                    <a:ext uri="{9D8B030D-6E8A-4147-A177-3AD203B41FA5}">
                      <a16:colId xmlns:a16="http://schemas.microsoft.com/office/drawing/2014/main" val="3827243786"/>
                    </a:ext>
                  </a:extLst>
                </a:gridCol>
              </a:tblGrid>
              <a:tr h="370840">
                <a:tc>
                  <a:txBody>
                    <a:bodyPr/>
                    <a:lstStyle/>
                    <a:p>
                      <a:r>
                        <a:rPr lang="en-US" sz="1400" dirty="0">
                          <a:latin typeface="Times New Roman" panose="02020603050405020304" pitchFamily="18" charset="0"/>
                          <a:cs typeface="Times New Roman" panose="02020603050405020304" pitchFamily="18" charset="0"/>
                        </a:rPr>
                        <a:t>Model scale</a:t>
                      </a:r>
                    </a:p>
                  </a:txBody>
                  <a:tcPr>
                    <a:solidFill>
                      <a:schemeClr val="tx2">
                        <a:lumMod val="75000"/>
                      </a:schemeClr>
                    </a:solidFill>
                  </a:tcPr>
                </a:tc>
                <a:tc>
                  <a:txBody>
                    <a:bodyPr/>
                    <a:lstStyle/>
                    <a:p>
                      <a:r>
                        <a:rPr lang="en-US" sz="1400" dirty="0">
                          <a:latin typeface="Times New Roman" panose="02020603050405020304" pitchFamily="18" charset="0"/>
                          <a:cs typeface="Times New Roman" panose="02020603050405020304" pitchFamily="18" charset="0"/>
                        </a:rPr>
                        <a:t>YOLO 11</a:t>
                      </a:r>
                    </a:p>
                  </a:txBody>
                  <a:tcPr>
                    <a:solidFill>
                      <a:schemeClr val="tx2">
                        <a:lumMod val="75000"/>
                      </a:schemeClr>
                    </a:solidFill>
                  </a:tcPr>
                </a:tc>
                <a:tc>
                  <a:txBody>
                    <a:bodyPr/>
                    <a:lstStyle/>
                    <a:p>
                      <a:r>
                        <a:rPr lang="en-US" sz="1400" dirty="0">
                          <a:latin typeface="Times New Roman" panose="02020603050405020304" pitchFamily="18" charset="0"/>
                          <a:cs typeface="Times New Roman" panose="02020603050405020304" pitchFamily="18" charset="0"/>
                        </a:rPr>
                        <a:t>YOLO 26</a:t>
                      </a:r>
                    </a:p>
                  </a:txBody>
                  <a:tcPr>
                    <a:solidFill>
                      <a:schemeClr val="tx2">
                        <a:lumMod val="75000"/>
                      </a:schemeClr>
                    </a:solidFill>
                  </a:tcPr>
                </a:tc>
                <a:extLst>
                  <a:ext uri="{0D108BD9-81ED-4DB2-BD59-A6C34878D82A}">
                    <a16:rowId xmlns:a16="http://schemas.microsoft.com/office/drawing/2014/main" val="3546181454"/>
                  </a:ext>
                </a:extLst>
              </a:tr>
              <a:tr h="370840">
                <a:tc>
                  <a:txBody>
                    <a:bodyPr/>
                    <a:lstStyle/>
                    <a:p>
                      <a:r>
                        <a:rPr lang="en-US" sz="1400" dirty="0">
                          <a:latin typeface="Times New Roman" panose="02020603050405020304" pitchFamily="18" charset="0"/>
                          <a:cs typeface="Times New Roman" panose="02020603050405020304" pitchFamily="18" charset="0"/>
                        </a:rPr>
                        <a:t>Nano</a:t>
                      </a:r>
                    </a:p>
                  </a:txBody>
                  <a:tcPr/>
                </a:tc>
                <a:tc>
                  <a:txBody>
                    <a:bodyPr/>
                    <a:lstStyle/>
                    <a:p>
                      <a:r>
                        <a:rPr lang="en-US" sz="1400" dirty="0">
                          <a:latin typeface="Times New Roman" panose="02020603050405020304" pitchFamily="18" charset="0"/>
                          <a:cs typeface="Times New Roman" panose="02020603050405020304" pitchFamily="18" charset="0"/>
                        </a:rPr>
                        <a:t>2.62 M</a:t>
                      </a:r>
                    </a:p>
                  </a:txBody>
                  <a:tcPr/>
                </a:tc>
                <a:tc>
                  <a:txBody>
                    <a:bodyPr/>
                    <a:lstStyle/>
                    <a:p>
                      <a:r>
                        <a:rPr lang="en-US" sz="1400" dirty="0">
                          <a:latin typeface="Times New Roman" panose="02020603050405020304" pitchFamily="18" charset="0"/>
                          <a:cs typeface="Times New Roman" panose="02020603050405020304" pitchFamily="18" charset="0"/>
                        </a:rPr>
                        <a:t>2.7 M</a:t>
                      </a:r>
                    </a:p>
                  </a:txBody>
                  <a:tcPr/>
                </a:tc>
                <a:extLst>
                  <a:ext uri="{0D108BD9-81ED-4DB2-BD59-A6C34878D82A}">
                    <a16:rowId xmlns:a16="http://schemas.microsoft.com/office/drawing/2014/main" val="2785093085"/>
                  </a:ext>
                </a:extLst>
              </a:tr>
              <a:tr h="370840">
                <a:tc>
                  <a:txBody>
                    <a:bodyPr/>
                    <a:lstStyle/>
                    <a:p>
                      <a:r>
                        <a:rPr lang="en-US" sz="1400" dirty="0">
                          <a:latin typeface="Times New Roman" panose="02020603050405020304" pitchFamily="18" charset="0"/>
                          <a:cs typeface="Times New Roman" panose="02020603050405020304" pitchFamily="18" charset="0"/>
                        </a:rPr>
                        <a:t>Small</a:t>
                      </a:r>
                    </a:p>
                  </a:txBody>
                  <a:tcPr/>
                </a:tc>
                <a:tc>
                  <a:txBody>
                    <a:bodyPr/>
                    <a:lstStyle/>
                    <a:p>
                      <a:r>
                        <a:rPr lang="en-US" sz="1400" dirty="0">
                          <a:latin typeface="Times New Roman" panose="02020603050405020304" pitchFamily="18" charset="0"/>
                          <a:cs typeface="Times New Roman" panose="02020603050405020304" pitchFamily="18" charset="0"/>
                        </a:rPr>
                        <a:t>9.44 M</a:t>
                      </a:r>
                    </a:p>
                  </a:txBody>
                  <a:tcPr/>
                </a:tc>
                <a:tc>
                  <a:txBody>
                    <a:bodyPr/>
                    <a:lstStyle/>
                    <a:p>
                      <a:r>
                        <a:rPr lang="en-US" sz="1400" dirty="0">
                          <a:latin typeface="Times New Roman" panose="02020603050405020304" pitchFamily="18" charset="0"/>
                          <a:cs typeface="Times New Roman" panose="02020603050405020304" pitchFamily="18" charset="0"/>
                        </a:rPr>
                        <a:t>9.5 M</a:t>
                      </a:r>
                    </a:p>
                  </a:txBody>
                  <a:tcPr/>
                </a:tc>
                <a:extLst>
                  <a:ext uri="{0D108BD9-81ED-4DB2-BD59-A6C34878D82A}">
                    <a16:rowId xmlns:a16="http://schemas.microsoft.com/office/drawing/2014/main" val="577313715"/>
                  </a:ext>
                </a:extLst>
              </a:tr>
              <a:tr h="370840">
                <a:tc>
                  <a:txBody>
                    <a:bodyPr/>
                    <a:lstStyle/>
                    <a:p>
                      <a:r>
                        <a:rPr lang="en-US" sz="1400" dirty="0">
                          <a:latin typeface="Times New Roman" panose="02020603050405020304" pitchFamily="18" charset="0"/>
                          <a:cs typeface="Times New Roman" panose="02020603050405020304" pitchFamily="18" charset="0"/>
                        </a:rPr>
                        <a:t>Medium</a:t>
                      </a:r>
                    </a:p>
                  </a:txBody>
                  <a:tcPr/>
                </a:tc>
                <a:tc>
                  <a:txBody>
                    <a:bodyPr/>
                    <a:lstStyle/>
                    <a:p>
                      <a:r>
                        <a:rPr lang="en-US" sz="1400" dirty="0">
                          <a:latin typeface="Times New Roman" panose="02020603050405020304" pitchFamily="18" charset="0"/>
                          <a:cs typeface="Times New Roman" panose="02020603050405020304" pitchFamily="18" charset="0"/>
                        </a:rPr>
                        <a:t>20.09 M</a:t>
                      </a:r>
                    </a:p>
                  </a:txBody>
                  <a:tcPr/>
                </a:tc>
                <a:tc>
                  <a:txBody>
                    <a:bodyPr/>
                    <a:lstStyle/>
                    <a:p>
                      <a:r>
                        <a:rPr lang="en-US" sz="1400" dirty="0">
                          <a:latin typeface="Times New Roman" panose="02020603050405020304" pitchFamily="18" charset="0"/>
                          <a:cs typeface="Times New Roman" panose="02020603050405020304" pitchFamily="18" charset="0"/>
                        </a:rPr>
                        <a:t>21 M</a:t>
                      </a:r>
                    </a:p>
                  </a:txBody>
                  <a:tcPr/>
                </a:tc>
                <a:extLst>
                  <a:ext uri="{0D108BD9-81ED-4DB2-BD59-A6C34878D82A}">
                    <a16:rowId xmlns:a16="http://schemas.microsoft.com/office/drawing/2014/main" val="3014721984"/>
                  </a:ext>
                </a:extLst>
              </a:tr>
              <a:tr h="370840">
                <a:tc>
                  <a:txBody>
                    <a:bodyPr/>
                    <a:lstStyle/>
                    <a:p>
                      <a:r>
                        <a:rPr lang="en-US" sz="1400" dirty="0">
                          <a:latin typeface="Times New Roman" panose="02020603050405020304" pitchFamily="18" charset="0"/>
                          <a:cs typeface="Times New Roman" panose="02020603050405020304" pitchFamily="18" charset="0"/>
                        </a:rPr>
                        <a:t>Large</a:t>
                      </a:r>
                    </a:p>
                  </a:txBody>
                  <a:tcPr/>
                </a:tc>
                <a:tc>
                  <a:txBody>
                    <a:bodyPr/>
                    <a:lstStyle/>
                    <a:p>
                      <a:r>
                        <a:rPr lang="en-US" sz="1400" dirty="0">
                          <a:latin typeface="Times New Roman" panose="02020603050405020304" pitchFamily="18" charset="0"/>
                          <a:cs typeface="Times New Roman" panose="02020603050405020304" pitchFamily="18" charset="0"/>
                        </a:rPr>
                        <a:t>25.34 M</a:t>
                      </a:r>
                    </a:p>
                  </a:txBody>
                  <a:tcPr/>
                </a:tc>
                <a:tc>
                  <a:txBody>
                    <a:bodyPr/>
                    <a:lstStyle/>
                    <a:p>
                      <a:r>
                        <a:rPr lang="en-US" sz="1400" dirty="0">
                          <a:latin typeface="Times New Roman" panose="02020603050405020304" pitchFamily="18" charset="0"/>
                          <a:cs typeface="Times New Roman" panose="02020603050405020304" pitchFamily="18" charset="0"/>
                        </a:rPr>
                        <a:t>25 M</a:t>
                      </a:r>
                    </a:p>
                  </a:txBody>
                  <a:tcPr/>
                </a:tc>
                <a:extLst>
                  <a:ext uri="{0D108BD9-81ED-4DB2-BD59-A6C34878D82A}">
                    <a16:rowId xmlns:a16="http://schemas.microsoft.com/office/drawing/2014/main" val="3076171996"/>
                  </a:ext>
                </a:extLst>
              </a:tr>
              <a:tr h="370840">
                <a:tc>
                  <a:txBody>
                    <a:bodyPr/>
                    <a:lstStyle/>
                    <a:p>
                      <a:r>
                        <a:rPr lang="en-US" sz="1400" dirty="0">
                          <a:latin typeface="Times New Roman" panose="02020603050405020304" pitchFamily="18" charset="0"/>
                          <a:cs typeface="Times New Roman" panose="02020603050405020304" pitchFamily="18" charset="0"/>
                        </a:rPr>
                        <a:t>Extra-large</a:t>
                      </a:r>
                    </a:p>
                  </a:txBody>
                  <a:tcPr/>
                </a:tc>
                <a:tc>
                  <a:txBody>
                    <a:bodyPr/>
                    <a:lstStyle/>
                    <a:p>
                      <a:r>
                        <a:rPr lang="en-US" sz="1400" dirty="0">
                          <a:latin typeface="Times New Roman" panose="02020603050405020304" pitchFamily="18" charset="0"/>
                          <a:cs typeface="Times New Roman" panose="02020603050405020304" pitchFamily="18" charset="0"/>
                        </a:rPr>
                        <a:t>56.92 M</a:t>
                      </a:r>
                    </a:p>
                  </a:txBody>
                  <a:tcPr/>
                </a:tc>
                <a:tc>
                  <a:txBody>
                    <a:bodyPr/>
                    <a:lstStyle/>
                    <a:p>
                      <a:r>
                        <a:rPr lang="en-US" sz="1400" dirty="0">
                          <a:latin typeface="Times New Roman" panose="02020603050405020304" pitchFamily="18" charset="0"/>
                          <a:cs typeface="Times New Roman" panose="02020603050405020304" pitchFamily="18" charset="0"/>
                        </a:rPr>
                        <a:t>57 M</a:t>
                      </a:r>
                    </a:p>
                  </a:txBody>
                  <a:tcPr/>
                </a:tc>
                <a:extLst>
                  <a:ext uri="{0D108BD9-81ED-4DB2-BD59-A6C34878D82A}">
                    <a16:rowId xmlns:a16="http://schemas.microsoft.com/office/drawing/2014/main" val="666716049"/>
                  </a:ext>
                </a:extLst>
              </a:tr>
            </a:tbl>
          </a:graphicData>
        </a:graphic>
      </p:graphicFrame>
    </p:spTree>
    <p:extLst>
      <p:ext uri="{BB962C8B-B14F-4D97-AF65-F5344CB8AC3E}">
        <p14:creationId xmlns:p14="http://schemas.microsoft.com/office/powerpoint/2010/main" val="38305015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dirty="0">
                <a:solidFill>
                  <a:srgbClr val="FFFFFF"/>
                </a:solidFill>
              </a:rPr>
              <a:t>Tracker</a:t>
            </a:r>
            <a:r>
              <a:rPr lang="en-US" sz="2400" b="1" dirty="0">
                <a:solidFill>
                  <a:srgbClr val="FFFFFF"/>
                </a:solidFill>
              </a:rPr>
              <a:t> algorithms</a:t>
            </a:r>
            <a:endParaRPr sz="2400" b="1" dirty="0">
              <a:solidFill>
                <a:srgbClr val="FFFFFF"/>
              </a:solidFill>
            </a:endParaRPr>
          </a:p>
        </p:txBody>
      </p:sp>
      <p:graphicFrame>
        <p:nvGraphicFramePr>
          <p:cNvPr id="28" name="Table 27">
            <a:extLst>
              <a:ext uri="{FF2B5EF4-FFF2-40B4-BE49-F238E27FC236}">
                <a16:creationId xmlns:a16="http://schemas.microsoft.com/office/drawing/2014/main" id="{C3278A10-D29C-6257-5C0F-C33698E956CB}"/>
              </a:ext>
            </a:extLst>
          </p:cNvPr>
          <p:cNvGraphicFramePr>
            <a:graphicFrameLocks noGrp="1"/>
          </p:cNvGraphicFramePr>
          <p:nvPr>
            <p:extLst>
              <p:ext uri="{D42A27DB-BD31-4B8C-83A1-F6EECF244321}">
                <p14:modId xmlns:p14="http://schemas.microsoft.com/office/powerpoint/2010/main" val="2997481901"/>
              </p:ext>
            </p:extLst>
          </p:nvPr>
        </p:nvGraphicFramePr>
        <p:xfrm>
          <a:off x="1664339" y="1492101"/>
          <a:ext cx="8183551" cy="3270898"/>
        </p:xfrm>
        <a:graphic>
          <a:graphicData uri="http://schemas.openxmlformats.org/drawingml/2006/table">
            <a:tbl>
              <a:tblPr firstRow="1">
                <a:tableStyleId>{5C22544A-7EE6-4342-B048-85BDC9FD1C3A}</a:tableStyleId>
              </a:tblPr>
              <a:tblGrid>
                <a:gridCol w="2765599">
                  <a:extLst>
                    <a:ext uri="{9D8B030D-6E8A-4147-A177-3AD203B41FA5}">
                      <a16:colId xmlns:a16="http://schemas.microsoft.com/office/drawing/2014/main" val="722453611"/>
                    </a:ext>
                  </a:extLst>
                </a:gridCol>
                <a:gridCol w="2241089">
                  <a:extLst>
                    <a:ext uri="{9D8B030D-6E8A-4147-A177-3AD203B41FA5}">
                      <a16:colId xmlns:a16="http://schemas.microsoft.com/office/drawing/2014/main" val="218411930"/>
                    </a:ext>
                  </a:extLst>
                </a:gridCol>
                <a:gridCol w="3176863">
                  <a:extLst>
                    <a:ext uri="{9D8B030D-6E8A-4147-A177-3AD203B41FA5}">
                      <a16:colId xmlns:a16="http://schemas.microsoft.com/office/drawing/2014/main" val="1351102178"/>
                    </a:ext>
                  </a:extLst>
                </a:gridCol>
              </a:tblGrid>
              <a:tr h="229125">
                <a:tc>
                  <a:txBody>
                    <a:bodyPr/>
                    <a:lstStyle/>
                    <a:p>
                      <a:pPr>
                        <a:buNone/>
                      </a:pPr>
                      <a:r>
                        <a:rPr lang="en-US" sz="1400" dirty="0">
                          <a:latin typeface="Times New Roman" panose="02020603050405020304" pitchFamily="18" charset="0"/>
                          <a:cs typeface="Times New Roman" panose="02020603050405020304" pitchFamily="18" charset="0"/>
                        </a:rPr>
                        <a:t>Aspect</a:t>
                      </a:r>
                    </a:p>
                  </a:txBody>
                  <a:tcPr marL="75433" marR="75433" marT="37716" marB="37716" anchor="ctr">
                    <a:solidFill>
                      <a:schemeClr val="tx2">
                        <a:lumMod val="75000"/>
                      </a:schemeClr>
                    </a:solidFill>
                  </a:tcPr>
                </a:tc>
                <a:tc>
                  <a:txBody>
                    <a:bodyPr/>
                    <a:lstStyle/>
                    <a:p>
                      <a:pPr>
                        <a:buNone/>
                      </a:pPr>
                      <a:r>
                        <a:rPr lang="en-US" sz="1400" dirty="0" err="1">
                          <a:latin typeface="Times New Roman" panose="02020603050405020304" pitchFamily="18" charset="0"/>
                          <a:cs typeface="Times New Roman" panose="02020603050405020304" pitchFamily="18" charset="0"/>
                        </a:rPr>
                        <a:t>ByteTrack</a:t>
                      </a:r>
                      <a:endParaRPr lang="en-US" sz="1400" dirty="0">
                        <a:latin typeface="Times New Roman" panose="02020603050405020304" pitchFamily="18" charset="0"/>
                        <a:cs typeface="Times New Roman" panose="02020603050405020304" pitchFamily="18" charset="0"/>
                      </a:endParaRPr>
                    </a:p>
                  </a:txBody>
                  <a:tcPr marL="75433" marR="75433" marT="37716" marB="37716" anchor="ctr">
                    <a:solidFill>
                      <a:schemeClr val="tx2">
                        <a:lumMod val="75000"/>
                      </a:schemeClr>
                    </a:solidFill>
                  </a:tcPr>
                </a:tc>
                <a:tc>
                  <a:txBody>
                    <a:bodyPr/>
                    <a:lstStyle/>
                    <a:p>
                      <a:pPr>
                        <a:buNone/>
                      </a:pPr>
                      <a:r>
                        <a:rPr lang="en-US" sz="1400" dirty="0">
                          <a:latin typeface="Times New Roman" panose="02020603050405020304" pitchFamily="18" charset="0"/>
                          <a:cs typeface="Times New Roman" panose="02020603050405020304" pitchFamily="18" charset="0"/>
                        </a:rPr>
                        <a:t>BoT-SORT</a:t>
                      </a:r>
                    </a:p>
                  </a:txBody>
                  <a:tcPr marL="75433" marR="75433" marT="37716" marB="37716" anchor="ctr">
                    <a:solidFill>
                      <a:schemeClr val="tx2">
                        <a:lumMod val="75000"/>
                      </a:schemeClr>
                    </a:solidFill>
                  </a:tcPr>
                </a:tc>
                <a:extLst>
                  <a:ext uri="{0D108BD9-81ED-4DB2-BD59-A6C34878D82A}">
                    <a16:rowId xmlns:a16="http://schemas.microsoft.com/office/drawing/2014/main" val="1227360385"/>
                  </a:ext>
                </a:extLst>
              </a:tr>
              <a:tr h="401404">
                <a:tc>
                  <a:txBody>
                    <a:bodyPr/>
                    <a:lstStyle/>
                    <a:p>
                      <a:pPr>
                        <a:buNone/>
                      </a:pPr>
                      <a:r>
                        <a:rPr lang="en-US" sz="1400" dirty="0">
                          <a:latin typeface="Times New Roman" panose="02020603050405020304" pitchFamily="18" charset="0"/>
                          <a:cs typeface="Times New Roman" panose="02020603050405020304" pitchFamily="18" charset="0"/>
                        </a:rPr>
                        <a:t>Core approach</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Motion-only (Kalman filter)</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Motion + appearance (</a:t>
                      </a:r>
                      <a:r>
                        <a:rPr lang="en-US" sz="1400" dirty="0" err="1">
                          <a:latin typeface="Times New Roman" panose="02020603050405020304" pitchFamily="18" charset="0"/>
                          <a:cs typeface="Times New Roman" panose="02020603050405020304" pitchFamily="18" charset="0"/>
                        </a:rPr>
                        <a:t>ReID</a:t>
                      </a:r>
                      <a:r>
                        <a:rPr lang="en-US" sz="1400" dirty="0">
                          <a:latin typeface="Times New Roman" panose="02020603050405020304" pitchFamily="18" charset="0"/>
                          <a:cs typeface="Times New Roman" panose="02020603050405020304" pitchFamily="18" charset="0"/>
                        </a:rPr>
                        <a:t> embeddings)</a:t>
                      </a:r>
                    </a:p>
                  </a:txBody>
                  <a:tcPr marL="75433" marR="75433" marT="37716" marB="37716" anchor="ctr"/>
                </a:tc>
                <a:extLst>
                  <a:ext uri="{0D108BD9-81ED-4DB2-BD59-A6C34878D82A}">
                    <a16:rowId xmlns:a16="http://schemas.microsoft.com/office/drawing/2014/main" val="1877196389"/>
                  </a:ext>
                </a:extLst>
              </a:tr>
              <a:tr h="401404">
                <a:tc>
                  <a:txBody>
                    <a:bodyPr/>
                    <a:lstStyle/>
                    <a:p>
                      <a:pPr>
                        <a:buNone/>
                      </a:pPr>
                      <a:r>
                        <a:rPr lang="en-US" sz="1400">
                          <a:latin typeface="Times New Roman" panose="02020603050405020304" pitchFamily="18" charset="0"/>
                          <a:cs typeface="Times New Roman" panose="02020603050405020304" pitchFamily="18" charset="0"/>
                        </a:rPr>
                        <a:t>Camera motion compensation</a:t>
                      </a:r>
                    </a:p>
                  </a:txBody>
                  <a:tcPr marL="75433" marR="75433" marT="37716" marB="37716" anchor="ctr"/>
                </a:tc>
                <a:tc>
                  <a:txBody>
                    <a:bodyPr/>
                    <a:lstStyle/>
                    <a:p>
                      <a:pPr>
                        <a:buNone/>
                      </a:pPr>
                      <a:r>
                        <a:rPr lang="en-US" sz="1400">
                          <a:latin typeface="Times New Roman" panose="02020603050405020304" pitchFamily="18" charset="0"/>
                          <a:cs typeface="Times New Roman" panose="02020603050405020304" pitchFamily="18" charset="0"/>
                        </a:rPr>
                        <a:t>No</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Yes</a:t>
                      </a:r>
                    </a:p>
                  </a:txBody>
                  <a:tcPr marL="75433" marR="75433" marT="37716" marB="37716" anchor="ctr"/>
                </a:tc>
                <a:extLst>
                  <a:ext uri="{0D108BD9-81ED-4DB2-BD59-A6C34878D82A}">
                    <a16:rowId xmlns:a16="http://schemas.microsoft.com/office/drawing/2014/main" val="2787175098"/>
                  </a:ext>
                </a:extLst>
              </a:tr>
              <a:tr h="401404">
                <a:tc>
                  <a:txBody>
                    <a:bodyPr/>
                    <a:lstStyle/>
                    <a:p>
                      <a:pPr>
                        <a:buNone/>
                      </a:pPr>
                      <a:r>
                        <a:rPr lang="en-US" sz="1400">
                          <a:latin typeface="Times New Roman" panose="02020603050405020304" pitchFamily="18" charset="0"/>
                          <a:cs typeface="Times New Roman" panose="02020603050405020304" pitchFamily="18" charset="0"/>
                        </a:rPr>
                        <a:t>Appearance/ReID matching</a:t>
                      </a:r>
                    </a:p>
                  </a:txBody>
                  <a:tcPr marL="75433" marR="75433" marT="37716" marB="37716" anchor="ctr"/>
                </a:tc>
                <a:tc>
                  <a:txBody>
                    <a:bodyPr/>
                    <a:lstStyle/>
                    <a:p>
                      <a:pPr>
                        <a:buNone/>
                      </a:pPr>
                      <a:r>
                        <a:rPr lang="en-US" sz="1400">
                          <a:latin typeface="Times New Roman" panose="02020603050405020304" pitchFamily="18" charset="0"/>
                          <a:cs typeface="Times New Roman" panose="02020603050405020304" pitchFamily="18" charset="0"/>
                        </a:rPr>
                        <a:t>No</a:t>
                      </a:r>
                    </a:p>
                  </a:txBody>
                  <a:tcPr marL="75433" marR="75433" marT="37716" marB="37716" anchor="ctr"/>
                </a:tc>
                <a:tc>
                  <a:txBody>
                    <a:bodyPr/>
                    <a:lstStyle/>
                    <a:p>
                      <a:pPr>
                        <a:buNone/>
                      </a:pPr>
                      <a:r>
                        <a:rPr lang="en-US" sz="1400">
                          <a:latin typeface="Times New Roman" panose="02020603050405020304" pitchFamily="18" charset="0"/>
                          <a:cs typeface="Times New Roman" panose="02020603050405020304" pitchFamily="18" charset="0"/>
                        </a:rPr>
                        <a:t>Yes</a:t>
                      </a:r>
                    </a:p>
                  </a:txBody>
                  <a:tcPr marL="75433" marR="75433" marT="37716" marB="37716" anchor="ctr"/>
                </a:tc>
                <a:extLst>
                  <a:ext uri="{0D108BD9-81ED-4DB2-BD59-A6C34878D82A}">
                    <a16:rowId xmlns:a16="http://schemas.microsoft.com/office/drawing/2014/main" val="3745010551"/>
                  </a:ext>
                </a:extLst>
              </a:tr>
              <a:tr h="401404">
                <a:tc>
                  <a:txBody>
                    <a:bodyPr/>
                    <a:lstStyle/>
                    <a:p>
                      <a:pPr>
                        <a:buNone/>
                      </a:pPr>
                      <a:r>
                        <a:rPr lang="en-US" sz="1400">
                          <a:latin typeface="Times New Roman" panose="02020603050405020304" pitchFamily="18" charset="0"/>
                          <a:cs typeface="Times New Roman" panose="02020603050405020304" pitchFamily="18" charset="0"/>
                        </a:rPr>
                        <a:t>Speed</a:t>
                      </a:r>
                    </a:p>
                  </a:txBody>
                  <a:tcPr marL="75433" marR="75433" marT="37716" marB="37716" anchor="ctr"/>
                </a:tc>
                <a:tc>
                  <a:txBody>
                    <a:bodyPr/>
                    <a:lstStyle/>
                    <a:p>
                      <a:pPr>
                        <a:buNone/>
                      </a:pPr>
                      <a:r>
                        <a:rPr lang="en-US" sz="1400">
                          <a:latin typeface="Times New Roman" panose="02020603050405020304" pitchFamily="18" charset="0"/>
                          <a:cs typeface="Times New Roman" panose="02020603050405020304" pitchFamily="18" charset="0"/>
                        </a:rPr>
                        <a:t>Faster, lighter</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Slower, heavier</a:t>
                      </a:r>
                    </a:p>
                  </a:txBody>
                  <a:tcPr marL="75433" marR="75433" marT="37716" marB="37716" anchor="ctr"/>
                </a:tc>
                <a:extLst>
                  <a:ext uri="{0D108BD9-81ED-4DB2-BD59-A6C34878D82A}">
                    <a16:rowId xmlns:a16="http://schemas.microsoft.com/office/drawing/2014/main" val="1006176518"/>
                  </a:ext>
                </a:extLst>
              </a:tr>
              <a:tr h="401404">
                <a:tc>
                  <a:txBody>
                    <a:bodyPr/>
                    <a:lstStyle/>
                    <a:p>
                      <a:pPr>
                        <a:buNone/>
                      </a:pPr>
                      <a:r>
                        <a:rPr lang="en-US" sz="1400" dirty="0">
                          <a:latin typeface="Times New Roman" panose="02020603050405020304" pitchFamily="18" charset="0"/>
                          <a:cs typeface="Times New Roman" panose="02020603050405020304" pitchFamily="18" charset="0"/>
                        </a:rPr>
                        <a:t>Working with to crossing objects</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Not well</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Yes</a:t>
                      </a:r>
                    </a:p>
                  </a:txBody>
                  <a:tcPr marL="75433" marR="75433" marT="37716" marB="37716" anchor="ctr"/>
                </a:tc>
                <a:extLst>
                  <a:ext uri="{0D108BD9-81ED-4DB2-BD59-A6C34878D82A}">
                    <a16:rowId xmlns:a16="http://schemas.microsoft.com/office/drawing/2014/main" val="2266198846"/>
                  </a:ext>
                </a:extLst>
              </a:tr>
              <a:tr h="573682">
                <a:tc>
                  <a:txBody>
                    <a:bodyPr/>
                    <a:lstStyle/>
                    <a:p>
                      <a:pPr>
                        <a:buNone/>
                      </a:pPr>
                      <a:r>
                        <a:rPr lang="en-US" sz="1400">
                          <a:latin typeface="Times New Roman" panose="02020603050405020304" pitchFamily="18" charset="0"/>
                          <a:cs typeface="Times New Roman" panose="02020603050405020304" pitchFamily="18" charset="0"/>
                        </a:rPr>
                        <a:t>Best suited for</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Static camera, speed-critical, </a:t>
                      </a:r>
                      <a:r>
                        <a:rPr lang="en-US" sz="1400" u="sng" dirty="0">
                          <a:latin typeface="Times New Roman" panose="02020603050405020304" pitchFamily="18" charset="0"/>
                          <a:cs typeface="Times New Roman" panose="02020603050405020304" pitchFamily="18" charset="0"/>
                        </a:rPr>
                        <a:t>visually similar objects</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Moving camera, </a:t>
                      </a:r>
                      <a:r>
                        <a:rPr lang="en-US" sz="1400" u="sng" dirty="0">
                          <a:latin typeface="Times New Roman" panose="02020603050405020304" pitchFamily="18" charset="0"/>
                          <a:cs typeface="Times New Roman" panose="02020603050405020304" pitchFamily="18" charset="0"/>
                        </a:rPr>
                        <a:t>need higher ID accuracy</a:t>
                      </a:r>
                      <a:r>
                        <a:rPr lang="en-US" sz="1400" dirty="0">
                          <a:latin typeface="Times New Roman" panose="02020603050405020304" pitchFamily="18" charset="0"/>
                          <a:cs typeface="Times New Roman" panose="02020603050405020304" pitchFamily="18" charset="0"/>
                        </a:rPr>
                        <a:t>, can afford compute cost</a:t>
                      </a:r>
                    </a:p>
                  </a:txBody>
                  <a:tcPr marL="75433" marR="75433" marT="37716" marB="37716" anchor="ctr"/>
                </a:tc>
                <a:extLst>
                  <a:ext uri="{0D108BD9-81ED-4DB2-BD59-A6C34878D82A}">
                    <a16:rowId xmlns:a16="http://schemas.microsoft.com/office/drawing/2014/main" val="1148689507"/>
                  </a:ext>
                </a:extLst>
              </a:tr>
              <a:tr h="401404">
                <a:tc>
                  <a:txBody>
                    <a:bodyPr/>
                    <a:lstStyle/>
                    <a:p>
                      <a:pPr>
                        <a:buNone/>
                      </a:pPr>
                      <a:r>
                        <a:rPr lang="en-US" sz="1400" dirty="0">
                          <a:latin typeface="Times New Roman" panose="02020603050405020304" pitchFamily="18" charset="0"/>
                          <a:cs typeface="Times New Roman" panose="02020603050405020304" pitchFamily="18" charset="0"/>
                        </a:rPr>
                        <a:t>Complexity to run</a:t>
                      </a:r>
                    </a:p>
                  </a:txBody>
                  <a:tcPr marL="75433" marR="75433" marT="37716" marB="37716" anchor="ctr"/>
                </a:tc>
                <a:tc>
                  <a:txBody>
                    <a:bodyPr/>
                    <a:lstStyle/>
                    <a:p>
                      <a:pPr>
                        <a:buNone/>
                      </a:pPr>
                      <a:r>
                        <a:rPr lang="en-US" sz="1400">
                          <a:latin typeface="Times New Roman" panose="02020603050405020304" pitchFamily="18" charset="0"/>
                          <a:cs typeface="Times New Roman" panose="02020603050405020304" pitchFamily="18" charset="0"/>
                        </a:rPr>
                        <a:t>Simple</a:t>
                      </a:r>
                    </a:p>
                  </a:txBody>
                  <a:tcPr marL="75433" marR="75433" marT="37716" marB="37716" anchor="ctr"/>
                </a:tc>
                <a:tc>
                  <a:txBody>
                    <a:bodyPr/>
                    <a:lstStyle/>
                    <a:p>
                      <a:pPr>
                        <a:buNone/>
                      </a:pPr>
                      <a:r>
                        <a:rPr lang="en-US" sz="1400" dirty="0">
                          <a:latin typeface="Times New Roman" panose="02020603050405020304" pitchFamily="18" charset="0"/>
                          <a:cs typeface="Times New Roman" panose="02020603050405020304" pitchFamily="18" charset="0"/>
                        </a:rPr>
                        <a:t>More complex, more moving parts</a:t>
                      </a:r>
                    </a:p>
                  </a:txBody>
                  <a:tcPr marL="75433" marR="75433" marT="37716" marB="37716" anchor="ctr"/>
                </a:tc>
                <a:extLst>
                  <a:ext uri="{0D108BD9-81ED-4DB2-BD59-A6C34878D82A}">
                    <a16:rowId xmlns:a16="http://schemas.microsoft.com/office/drawing/2014/main" val="1110587487"/>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dirty="0">
                <a:solidFill>
                  <a:srgbClr val="FFFFFF"/>
                </a:solidFill>
                <a:latin typeface="Times New Roman" panose="02020603050405020304" pitchFamily="18" charset="0"/>
                <a:cs typeface="Times New Roman" panose="02020603050405020304" pitchFamily="18" charset="0"/>
              </a:rPr>
              <a:t>Diverse Training Data</a:t>
            </a:r>
          </a:p>
        </p:txBody>
      </p:sp>
      <p:sp>
        <p:nvSpPr>
          <p:cNvPr id="13" name="TextBox 12"/>
          <p:cNvSpPr txBox="1"/>
          <p:nvPr/>
        </p:nvSpPr>
        <p:spPr>
          <a:xfrm>
            <a:off x="608012" y="1360050"/>
            <a:ext cx="5486400" cy="307777"/>
          </a:xfrm>
          <a:prstGeom prst="rect">
            <a:avLst/>
          </a:prstGeom>
          <a:noFill/>
        </p:spPr>
        <p:txBody>
          <a:bodyPr wrap="square">
            <a:spAutoFit/>
          </a:bodyPr>
          <a:lstStyle/>
          <a:p>
            <a:pPr algn="l"/>
            <a:r>
              <a:rPr sz="1400" b="1" dirty="0">
                <a:latin typeface="Times New Roman" panose="02020603050405020304" pitchFamily="18" charset="0"/>
                <a:cs typeface="Times New Roman" panose="02020603050405020304" pitchFamily="18" charset="0"/>
              </a:rPr>
              <a:t>✓  </a:t>
            </a:r>
            <a:r>
              <a:rPr sz="1400" b="1" dirty="0" err="1">
                <a:latin typeface="Times New Roman" panose="02020603050405020304" pitchFamily="18" charset="0"/>
                <a:cs typeface="Times New Roman" panose="02020603050405020304" pitchFamily="18" charset="0"/>
              </a:rPr>
              <a:t>VisDrone</a:t>
            </a:r>
            <a:r>
              <a:rPr sz="1400" b="1" dirty="0">
                <a:latin typeface="Times New Roman" panose="02020603050405020304" pitchFamily="18" charset="0"/>
                <a:cs typeface="Times New Roman" panose="02020603050405020304" pitchFamily="18" charset="0"/>
              </a:rPr>
              <a:t> 2019</a:t>
            </a:r>
          </a:p>
        </p:txBody>
      </p:sp>
      <p:sp>
        <p:nvSpPr>
          <p:cNvPr id="14" name="TextBox 13"/>
          <p:cNvSpPr txBox="1"/>
          <p:nvPr/>
        </p:nvSpPr>
        <p:spPr>
          <a:xfrm>
            <a:off x="608012" y="1679328"/>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Diverse drone overhead, multi-city</a:t>
            </a:r>
          </a:p>
        </p:txBody>
      </p:sp>
      <p:sp>
        <p:nvSpPr>
          <p:cNvPr id="15" name="TextBox 14"/>
          <p:cNvSpPr txBox="1"/>
          <p:nvPr/>
        </p:nvSpPr>
        <p:spPr>
          <a:xfrm>
            <a:off x="608012" y="1998606"/>
            <a:ext cx="5486400" cy="307777"/>
          </a:xfrm>
          <a:prstGeom prst="rect">
            <a:avLst/>
          </a:prstGeom>
          <a:noFill/>
        </p:spPr>
        <p:txBody>
          <a:bodyPr wrap="square">
            <a:spAutoFit/>
          </a:bodyPr>
          <a:lstStyle/>
          <a:p>
            <a:pPr algn="l"/>
            <a:r>
              <a:rPr sz="1400" b="1">
                <a:latin typeface="Times New Roman" panose="02020603050405020304" pitchFamily="18" charset="0"/>
                <a:cs typeface="Times New Roman" panose="02020603050405020304" pitchFamily="18" charset="0"/>
              </a:rPr>
              <a:t>✓  Stanford Drone Dataset</a:t>
            </a:r>
          </a:p>
        </p:txBody>
      </p:sp>
      <p:sp>
        <p:nvSpPr>
          <p:cNvPr id="16" name="TextBox 15"/>
          <p:cNvSpPr txBox="1"/>
          <p:nvPr/>
        </p:nvSpPr>
        <p:spPr>
          <a:xfrm>
            <a:off x="608012" y="2317884"/>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Fixed overhead — closest to our camera</a:t>
            </a:r>
          </a:p>
        </p:txBody>
      </p:sp>
      <p:sp>
        <p:nvSpPr>
          <p:cNvPr id="17" name="TextBox 16"/>
          <p:cNvSpPr txBox="1"/>
          <p:nvPr/>
        </p:nvSpPr>
        <p:spPr>
          <a:xfrm>
            <a:off x="608012" y="2637162"/>
            <a:ext cx="5486400" cy="307777"/>
          </a:xfrm>
          <a:prstGeom prst="rect">
            <a:avLst/>
          </a:prstGeom>
          <a:noFill/>
        </p:spPr>
        <p:txBody>
          <a:bodyPr wrap="square">
            <a:spAutoFit/>
          </a:bodyPr>
          <a:lstStyle/>
          <a:p>
            <a:pPr algn="l"/>
            <a:r>
              <a:rPr sz="1400" b="1">
                <a:latin typeface="Times New Roman" panose="02020603050405020304" pitchFamily="18" charset="0"/>
                <a:cs typeface="Times New Roman" panose="02020603050405020304" pitchFamily="18" charset="0"/>
              </a:rPr>
              <a:t>✓  UA-DETRAC</a:t>
            </a:r>
          </a:p>
        </p:txBody>
      </p:sp>
      <p:sp>
        <p:nvSpPr>
          <p:cNvPr id="18" name="TextBox 17"/>
          <p:cNvSpPr txBox="1"/>
          <p:nvPr/>
        </p:nvSpPr>
        <p:spPr>
          <a:xfrm>
            <a:off x="608012" y="2956440"/>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140k+ frames, 100+ real intersections</a:t>
            </a:r>
          </a:p>
        </p:txBody>
      </p:sp>
      <p:sp>
        <p:nvSpPr>
          <p:cNvPr id="19" name="TextBox 18"/>
          <p:cNvSpPr txBox="1"/>
          <p:nvPr/>
        </p:nvSpPr>
        <p:spPr>
          <a:xfrm>
            <a:off x="653732" y="3275718"/>
            <a:ext cx="5486400" cy="307777"/>
          </a:xfrm>
          <a:prstGeom prst="rect">
            <a:avLst/>
          </a:prstGeom>
          <a:noFill/>
        </p:spPr>
        <p:txBody>
          <a:bodyPr wrap="square">
            <a:spAutoFit/>
          </a:bodyPr>
          <a:lstStyle/>
          <a:p>
            <a:pPr algn="l"/>
            <a:r>
              <a:rPr sz="1400" b="1">
                <a:latin typeface="Times New Roman" panose="02020603050405020304" pitchFamily="18" charset="0"/>
                <a:cs typeface="Times New Roman" panose="02020603050405020304" pitchFamily="18" charset="0"/>
              </a:rPr>
              <a:t>✓  COWC</a:t>
            </a:r>
          </a:p>
        </p:txBody>
      </p:sp>
      <p:sp>
        <p:nvSpPr>
          <p:cNvPr id="20" name="TextBox 19"/>
          <p:cNvSpPr txBox="1"/>
          <p:nvPr/>
        </p:nvSpPr>
        <p:spPr>
          <a:xfrm>
            <a:off x="608012" y="3594996"/>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Aerial cars, 6 cities</a:t>
            </a:r>
          </a:p>
        </p:txBody>
      </p:sp>
      <p:sp>
        <p:nvSpPr>
          <p:cNvPr id="21" name="TextBox 20"/>
          <p:cNvSpPr txBox="1"/>
          <p:nvPr/>
        </p:nvSpPr>
        <p:spPr>
          <a:xfrm>
            <a:off x="608012" y="3914274"/>
            <a:ext cx="5486400" cy="307777"/>
          </a:xfrm>
          <a:prstGeom prst="rect">
            <a:avLst/>
          </a:prstGeom>
          <a:noFill/>
        </p:spPr>
        <p:txBody>
          <a:bodyPr wrap="square">
            <a:spAutoFit/>
          </a:bodyPr>
          <a:lstStyle/>
          <a:p>
            <a:pPr algn="l"/>
            <a:r>
              <a:rPr sz="1400" b="1">
                <a:latin typeface="Times New Roman" panose="02020603050405020304" pitchFamily="18" charset="0"/>
                <a:cs typeface="Times New Roman" panose="02020603050405020304" pitchFamily="18" charset="0"/>
              </a:rPr>
              <a:t>✓  CrowdHuman</a:t>
            </a:r>
          </a:p>
        </p:txBody>
      </p:sp>
      <p:sp>
        <p:nvSpPr>
          <p:cNvPr id="22" name="TextBox 21"/>
          <p:cNvSpPr txBox="1"/>
          <p:nvPr/>
        </p:nvSpPr>
        <p:spPr>
          <a:xfrm>
            <a:off x="608012" y="4233552"/>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Dense, occluded pedestrians</a:t>
            </a:r>
          </a:p>
        </p:txBody>
      </p:sp>
      <p:sp>
        <p:nvSpPr>
          <p:cNvPr id="23" name="TextBox 22"/>
          <p:cNvSpPr txBox="1"/>
          <p:nvPr/>
        </p:nvSpPr>
        <p:spPr>
          <a:xfrm>
            <a:off x="608012" y="4552830"/>
            <a:ext cx="5486400" cy="307777"/>
          </a:xfrm>
          <a:prstGeom prst="rect">
            <a:avLst/>
          </a:prstGeom>
          <a:noFill/>
        </p:spPr>
        <p:txBody>
          <a:bodyPr wrap="square">
            <a:spAutoFit/>
          </a:bodyPr>
          <a:lstStyle/>
          <a:p>
            <a:pPr algn="l"/>
            <a:r>
              <a:rPr sz="1400" b="1">
                <a:latin typeface="Times New Roman" panose="02020603050405020304" pitchFamily="18" charset="0"/>
                <a:cs typeface="Times New Roman" panose="02020603050405020304" pitchFamily="18" charset="0"/>
              </a:rPr>
              <a:t>✓  WiderPerson</a:t>
            </a:r>
          </a:p>
        </p:txBody>
      </p:sp>
      <p:sp>
        <p:nvSpPr>
          <p:cNvPr id="24" name="TextBox 23"/>
          <p:cNvSpPr txBox="1"/>
          <p:nvPr/>
        </p:nvSpPr>
        <p:spPr>
          <a:xfrm>
            <a:off x="608012" y="4872106"/>
            <a:ext cx="5486400" cy="307777"/>
          </a:xfrm>
          <a:prstGeom prst="rect">
            <a:avLst/>
          </a:prstGeom>
          <a:noFill/>
        </p:spPr>
        <p:txBody>
          <a:bodyPr wrap="square">
            <a:spAutoFit/>
          </a:bodyPr>
          <a:lstStyle/>
          <a:p>
            <a:pPr algn="l"/>
            <a:r>
              <a:rPr sz="1400" b="0">
                <a:latin typeface="Times New Roman" panose="02020603050405020304" pitchFamily="18" charset="0"/>
                <a:cs typeface="Times New Roman" panose="02020603050405020304" pitchFamily="18" charset="0"/>
              </a:rPr>
              <a:t>   Overhead + elevated pedestrian scenes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Limitation 1 — Model Too Small</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738664"/>
          </a:xfrm>
          <a:prstGeom prst="rect">
            <a:avLst/>
          </a:prstGeom>
          <a:noFill/>
        </p:spPr>
        <p:txBody>
          <a:bodyPr wrap="square">
            <a:spAutoFit/>
          </a:bodyPr>
          <a:lstStyle/>
          <a:p>
            <a:pPr algn="l"/>
            <a:r>
              <a:rPr sz="1400" b="0" i="0" dirty="0">
                <a:solidFill>
                  <a:srgbClr val="1A233A"/>
                </a:solidFill>
                <a:latin typeface="Times New Roman"/>
              </a:rPr>
              <a:t>YOLOv8s has only ~11 M parameters. It can speciali</a:t>
            </a:r>
            <a:r>
              <a:rPr lang="en-US" sz="1400" b="0" i="0" dirty="0">
                <a:solidFill>
                  <a:srgbClr val="1A233A"/>
                </a:solidFill>
                <a:latin typeface="Times New Roman"/>
              </a:rPr>
              <a:t>z</a:t>
            </a:r>
            <a:r>
              <a:rPr sz="1400" b="0" i="0" dirty="0">
                <a:solidFill>
                  <a:srgbClr val="1A233A"/>
                </a:solidFill>
                <a:latin typeface="Times New Roman"/>
              </a:rPr>
              <a:t>e on one camera but lacks capacity for the variation in lighting, camera height, vehicle type, and pedestrian density found across many cameras. Performance dropped on any footage outside the training camera.</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954107"/>
          </a:xfrm>
          <a:prstGeom prst="rect">
            <a:avLst/>
          </a:prstGeom>
          <a:noFill/>
        </p:spPr>
        <p:txBody>
          <a:bodyPr wrap="square">
            <a:spAutoFit/>
          </a:bodyPr>
          <a:lstStyle/>
          <a:p>
            <a:pPr algn="l"/>
            <a:r>
              <a:rPr sz="1400" b="0" i="0" dirty="0">
                <a:solidFill>
                  <a:srgbClr val="1A233A"/>
                </a:solidFill>
                <a:latin typeface="Times New Roman"/>
              </a:rPr>
              <a:t>Trained four YOLO11 model sizes on a diverse 32 k-image dataset:
  •  YOLO11s:  9.4 M params  •  YOLO11m: 20.1 M params
  •  YOLO11l: 25.3 M params  •  YOLO11x: 56.9 M params
All trained up to 150 epochs on UNH Premise A100.</a:t>
            </a: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20000" y="4495840"/>
            <a:ext cx="1660000" cy="307777"/>
          </a:xfrm>
          <a:prstGeom prst="rect">
            <a:avLst/>
          </a:prstGeom>
          <a:solidFill>
            <a:srgbClr val="1A7A3C"/>
          </a:solidFill>
        </p:spPr>
        <p:txBody>
          <a:bodyPr wrap="square">
            <a:spAutoFit/>
          </a:bodyPr>
          <a:lstStyle/>
          <a:p>
            <a:pPr algn="ctr"/>
            <a:r>
              <a:rPr sz="1400" b="1" i="0">
                <a:solidFill>
                  <a:srgbClr val="FFFFFF"/>
                </a:solidFill>
                <a:latin typeface="Times New Roman"/>
              </a:rPr>
              <a:t>RESULT</a:t>
            </a:r>
          </a:p>
        </p:txBody>
      </p:sp>
      <p:sp>
        <p:nvSpPr>
          <p:cNvPr id="12" name="TextBox 11"/>
          <p:cNvSpPr txBox="1"/>
          <p:nvPr/>
        </p:nvSpPr>
        <p:spPr>
          <a:xfrm>
            <a:off x="2160000" y="4505840"/>
            <a:ext cx="9588825" cy="954107"/>
          </a:xfrm>
          <a:prstGeom prst="rect">
            <a:avLst/>
          </a:prstGeom>
          <a:noFill/>
        </p:spPr>
        <p:txBody>
          <a:bodyPr wrap="square">
            <a:spAutoFit/>
          </a:bodyPr>
          <a:lstStyle/>
          <a:p>
            <a:pPr algn="l"/>
            <a:r>
              <a:rPr sz="1400" b="0" i="0" dirty="0">
                <a:solidFill>
                  <a:srgbClr val="1A233A"/>
                </a:solidFill>
                <a:latin typeface="Times New Roman"/>
              </a:rPr>
              <a:t>mAP50 improved with model size:
  YOLO11s  0.631   →   YOLO11m  0.671
  YOLO11l  0.677   →   YOLO11x  0.689
Recall rose from 0.561 (s) to 0.626 (x). Precision stable (~0.80 across all sizes).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Limitation 2 — Training Data Too Narrow</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307777"/>
          </a:xfrm>
          <a:prstGeom prst="rect">
            <a:avLst/>
          </a:prstGeom>
          <a:noFill/>
        </p:spPr>
        <p:txBody>
          <a:bodyPr wrap="square">
            <a:spAutoFit/>
          </a:bodyPr>
          <a:lstStyle/>
          <a:p>
            <a:pPr algn="l"/>
            <a:r>
              <a:rPr sz="1400" b="0" i="0" dirty="0">
                <a:solidFill>
                  <a:srgbClr val="1A233A"/>
                </a:solidFill>
                <a:latin typeface="Times New Roman"/>
              </a:rPr>
              <a:t>The model converged on that narrow distribution and generali</a:t>
            </a:r>
            <a:r>
              <a:rPr lang="en-US" sz="1400" b="0" i="0" dirty="0">
                <a:solidFill>
                  <a:srgbClr val="1A233A"/>
                </a:solidFill>
                <a:latin typeface="Times New Roman"/>
              </a:rPr>
              <a:t>z</a:t>
            </a:r>
            <a:r>
              <a:rPr sz="1400" b="0" i="0" dirty="0">
                <a:solidFill>
                  <a:srgbClr val="1A233A"/>
                </a:solidFill>
                <a:latin typeface="Times New Roman"/>
              </a:rPr>
              <a:t>ed poorly to </a:t>
            </a:r>
            <a:r>
              <a:rPr lang="en-US" sz="1400" b="0" i="0" dirty="0">
                <a:solidFill>
                  <a:srgbClr val="1A233A"/>
                </a:solidFill>
                <a:latin typeface="Times New Roman"/>
              </a:rPr>
              <a:t>varying</a:t>
            </a:r>
            <a:r>
              <a:rPr sz="1400" b="0" i="0" dirty="0">
                <a:solidFill>
                  <a:srgbClr val="1A233A"/>
                </a:solidFill>
                <a:latin typeface="Times New Roman"/>
              </a:rPr>
              <a:t> lighting condition, or scene density.</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1384995"/>
          </a:xfrm>
          <a:prstGeom prst="rect">
            <a:avLst/>
          </a:prstGeom>
          <a:noFill/>
        </p:spPr>
        <p:txBody>
          <a:bodyPr wrap="square">
            <a:spAutoFit/>
          </a:bodyPr>
          <a:lstStyle/>
          <a:p>
            <a:pPr algn="l"/>
            <a:r>
              <a:rPr sz="1200" b="0" i="0" dirty="0">
                <a:solidFill>
                  <a:srgbClr val="1A233A"/>
                </a:solidFill>
                <a:latin typeface="Times New Roman"/>
              </a:rPr>
              <a:t>Merged 6 diverse public datasets into a unified training set:
  •  </a:t>
            </a:r>
            <a:r>
              <a:rPr sz="1200" b="0" i="0" dirty="0" err="1">
                <a:solidFill>
                  <a:srgbClr val="1A233A"/>
                </a:solidFill>
                <a:latin typeface="Times New Roman"/>
              </a:rPr>
              <a:t>VisDrone</a:t>
            </a:r>
            <a:r>
              <a:rPr sz="1200" b="0" i="0" dirty="0">
                <a:solidFill>
                  <a:srgbClr val="1A233A"/>
                </a:solidFill>
                <a:latin typeface="Times New Roman"/>
              </a:rPr>
              <a:t> 2019       drone overhead, multi-city          (5 000 images)
  •  </a:t>
            </a:r>
            <a:r>
              <a:rPr sz="1200" b="0" i="0" dirty="0" err="1">
                <a:solidFill>
                  <a:srgbClr val="1A233A"/>
                </a:solidFill>
                <a:latin typeface="Times New Roman"/>
              </a:rPr>
              <a:t>WiderPerson</a:t>
            </a:r>
            <a:r>
              <a:rPr sz="1200" b="0" i="0" dirty="0">
                <a:solidFill>
                  <a:srgbClr val="1A233A"/>
                </a:solidFill>
                <a:latin typeface="Times New Roman"/>
              </a:rPr>
              <a:t>         overhead + elevated pedestrians      (5 000)
  •  UA-DETRAC-10K      100+ real intersections              (5 000)
  •  </a:t>
            </a:r>
            <a:r>
              <a:rPr sz="1200" b="0" i="0" dirty="0" err="1">
                <a:solidFill>
                  <a:srgbClr val="1A233A"/>
                </a:solidFill>
                <a:latin typeface="Times New Roman"/>
              </a:rPr>
              <a:t>CrowdHuman</a:t>
            </a:r>
            <a:r>
              <a:rPr sz="1200" b="0" i="0" dirty="0">
                <a:solidFill>
                  <a:srgbClr val="1A233A"/>
                </a:solidFill>
                <a:latin typeface="Times New Roman"/>
              </a:rPr>
              <a:t>          dense, occluded pedestrians          (2 101)
  •  COWC                aerial cars, 6 cities               (  665)
  •  COCO                person + vehicle diversity           (2 350)</a:t>
            </a: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420000" y="4495840"/>
            <a:ext cx="1660000" cy="307777"/>
          </a:xfrm>
          <a:prstGeom prst="rect">
            <a:avLst/>
          </a:prstGeom>
          <a:solidFill>
            <a:srgbClr val="1A7A3C"/>
          </a:solidFill>
        </p:spPr>
        <p:txBody>
          <a:bodyPr wrap="square">
            <a:spAutoFit/>
          </a:bodyPr>
          <a:lstStyle/>
          <a:p>
            <a:pPr algn="ctr"/>
            <a:r>
              <a:rPr sz="1400" b="1" i="0">
                <a:solidFill>
                  <a:srgbClr val="FFFFFF"/>
                </a:solidFill>
                <a:latin typeface="Times New Roman"/>
              </a:rPr>
              <a:t>RESULT</a:t>
            </a:r>
          </a:p>
        </p:txBody>
      </p:sp>
      <p:sp>
        <p:nvSpPr>
          <p:cNvPr id="12" name="TextBox 11"/>
          <p:cNvSpPr txBox="1"/>
          <p:nvPr/>
        </p:nvSpPr>
        <p:spPr>
          <a:xfrm>
            <a:off x="2160000" y="4505840"/>
            <a:ext cx="9588825" cy="307777"/>
          </a:xfrm>
          <a:prstGeom prst="rect">
            <a:avLst/>
          </a:prstGeom>
          <a:noFill/>
        </p:spPr>
        <p:txBody>
          <a:bodyPr wrap="square">
            <a:spAutoFit/>
          </a:bodyPr>
          <a:lstStyle/>
          <a:p>
            <a:pPr algn="l"/>
            <a:r>
              <a:rPr sz="1400" b="0" i="0" dirty="0">
                <a:solidFill>
                  <a:srgbClr val="1A233A"/>
                </a:solidFill>
                <a:latin typeface="Times New Roman"/>
              </a:rPr>
              <a:t>Car and person detection are more robust across all 12 benchmark videos.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Limitation 3 — Tracker Is IoU-Only (ByteTrack)</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523220"/>
          </a:xfrm>
          <a:prstGeom prst="rect">
            <a:avLst/>
          </a:prstGeom>
          <a:noFill/>
        </p:spPr>
        <p:txBody>
          <a:bodyPr wrap="square">
            <a:spAutoFit/>
          </a:bodyPr>
          <a:lstStyle/>
          <a:p>
            <a:pPr algn="l"/>
            <a:r>
              <a:rPr sz="1400" b="0" i="0" dirty="0" err="1">
                <a:solidFill>
                  <a:srgbClr val="1A233A"/>
                </a:solidFill>
                <a:latin typeface="Times New Roman"/>
              </a:rPr>
              <a:t>ByteTrack</a:t>
            </a:r>
            <a:r>
              <a:rPr sz="1400" b="0" i="0" dirty="0">
                <a:solidFill>
                  <a:srgbClr val="1A233A"/>
                </a:solidFill>
                <a:latin typeface="Times New Roman"/>
              </a:rPr>
              <a:t> matches tracks purely by bounding-box overlap (</a:t>
            </a:r>
            <a:r>
              <a:rPr sz="1400" b="0" i="0" dirty="0" err="1">
                <a:solidFill>
                  <a:srgbClr val="1A233A"/>
                </a:solidFill>
                <a:latin typeface="Times New Roman"/>
              </a:rPr>
              <a:t>IoU</a:t>
            </a:r>
            <a:r>
              <a:rPr sz="1400" b="0" i="0" dirty="0">
                <a:solidFill>
                  <a:srgbClr val="1A233A"/>
                </a:solidFill>
                <a:latin typeface="Times New Roman"/>
              </a:rPr>
              <a:t>). When two people cross paths or a vehicle is briefly occluded, the tracker has no way to distinguish them by appearance</a:t>
            </a:r>
            <a:r>
              <a:rPr lang="en-US" sz="1400" b="0" i="0" dirty="0">
                <a:solidFill>
                  <a:srgbClr val="1A233A"/>
                </a:solidFill>
                <a:latin typeface="Times New Roman"/>
              </a:rPr>
              <a:t>;</a:t>
            </a:r>
            <a:r>
              <a:rPr sz="1400" b="0" i="0" dirty="0">
                <a:solidFill>
                  <a:srgbClr val="1A233A"/>
                </a:solidFill>
                <a:latin typeface="Times New Roman"/>
              </a:rPr>
              <a:t> it re-assigns the wrong ID, causing ID switches and inflated counts.</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738664"/>
          </a:xfrm>
          <a:prstGeom prst="rect">
            <a:avLst/>
          </a:prstGeom>
          <a:noFill/>
        </p:spPr>
        <p:txBody>
          <a:bodyPr wrap="square">
            <a:spAutoFit/>
          </a:bodyPr>
          <a:lstStyle/>
          <a:p>
            <a:pPr algn="l"/>
            <a:r>
              <a:rPr sz="1400" b="0" i="0" dirty="0">
                <a:solidFill>
                  <a:srgbClr val="1A233A"/>
                </a:solidFill>
                <a:latin typeface="Times New Roman"/>
              </a:rPr>
              <a:t>Replaced </a:t>
            </a:r>
            <a:r>
              <a:rPr sz="1400" b="0" i="0" dirty="0" err="1">
                <a:solidFill>
                  <a:srgbClr val="1A233A"/>
                </a:solidFill>
                <a:latin typeface="Times New Roman"/>
              </a:rPr>
              <a:t>ByteTrack</a:t>
            </a:r>
            <a:r>
              <a:rPr sz="1400" b="0" i="0" dirty="0">
                <a:solidFill>
                  <a:srgbClr val="1A233A"/>
                </a:solidFill>
                <a:latin typeface="Times New Roman"/>
              </a:rPr>
              <a:t> with BoT-SORT (</a:t>
            </a:r>
            <a:r>
              <a:rPr sz="1400" b="0" i="0" dirty="0" err="1">
                <a:solidFill>
                  <a:srgbClr val="1A233A"/>
                </a:solidFill>
                <a:latin typeface="Times New Roman"/>
              </a:rPr>
              <a:t>BoxMOT</a:t>
            </a:r>
            <a:r>
              <a:rPr sz="1400" b="0" i="0" dirty="0">
                <a:solidFill>
                  <a:srgbClr val="1A233A"/>
                </a:solidFill>
                <a:latin typeface="Times New Roman"/>
              </a:rPr>
              <a:t> 18.0.0):
  •  Motion association: Kalman filter + </a:t>
            </a:r>
            <a:r>
              <a:rPr sz="1400" b="0" i="0" dirty="0" err="1">
                <a:solidFill>
                  <a:srgbClr val="1A233A"/>
                </a:solidFill>
                <a:latin typeface="Times New Roman"/>
              </a:rPr>
              <a:t>IoU</a:t>
            </a:r>
            <a:r>
              <a:rPr sz="1400" b="0" i="0" dirty="0">
                <a:solidFill>
                  <a:srgbClr val="1A233A"/>
                </a:solidFill>
                <a:latin typeface="Times New Roman"/>
              </a:rPr>
              <a:t> (same as </a:t>
            </a:r>
            <a:r>
              <a:rPr sz="1400" b="0" i="0" dirty="0" err="1">
                <a:solidFill>
                  <a:srgbClr val="1A233A"/>
                </a:solidFill>
                <a:latin typeface="Times New Roman"/>
              </a:rPr>
              <a:t>ByteTrack</a:t>
            </a:r>
            <a:r>
              <a:rPr sz="1400" b="0" i="0" dirty="0">
                <a:solidFill>
                  <a:srgbClr val="1A233A"/>
                </a:solidFill>
                <a:latin typeface="Times New Roman"/>
              </a:rPr>
              <a:t>)
  •  Appearance re-ID: </a:t>
            </a:r>
            <a:r>
              <a:rPr sz="1400" b="0" i="0" dirty="0" err="1">
                <a:solidFill>
                  <a:srgbClr val="1A233A"/>
                </a:solidFill>
                <a:latin typeface="Times New Roman"/>
              </a:rPr>
              <a:t>OSNet</a:t>
            </a:r>
            <a:r>
              <a:rPr sz="1400" b="0" i="0" dirty="0">
                <a:solidFill>
                  <a:srgbClr val="1A233A"/>
                </a:solidFill>
                <a:latin typeface="Times New Roman"/>
              </a:rPr>
              <a:t> x0.25 MSMT17 embedding</a:t>
            </a: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420000" y="4495840"/>
            <a:ext cx="1660000" cy="307777"/>
          </a:xfrm>
          <a:prstGeom prst="rect">
            <a:avLst/>
          </a:prstGeom>
          <a:solidFill>
            <a:srgbClr val="1A7A3C"/>
          </a:solidFill>
        </p:spPr>
        <p:txBody>
          <a:bodyPr wrap="square">
            <a:spAutoFit/>
          </a:bodyPr>
          <a:lstStyle/>
          <a:p>
            <a:pPr algn="ctr"/>
            <a:r>
              <a:rPr sz="1400" b="1" i="0">
                <a:solidFill>
                  <a:srgbClr val="FFFFFF"/>
                </a:solidFill>
                <a:latin typeface="Times New Roman"/>
              </a:rPr>
              <a:t>RESULT</a:t>
            </a:r>
          </a:p>
        </p:txBody>
      </p:sp>
      <p:sp>
        <p:nvSpPr>
          <p:cNvPr id="12" name="TextBox 11"/>
          <p:cNvSpPr txBox="1"/>
          <p:nvPr/>
        </p:nvSpPr>
        <p:spPr>
          <a:xfrm>
            <a:off x="2160000" y="4505840"/>
            <a:ext cx="9588825" cy="307777"/>
          </a:xfrm>
          <a:prstGeom prst="rect">
            <a:avLst/>
          </a:prstGeom>
          <a:noFill/>
        </p:spPr>
        <p:txBody>
          <a:bodyPr wrap="square">
            <a:spAutoFit/>
          </a:bodyPr>
          <a:lstStyle/>
          <a:p>
            <a:pPr algn="l"/>
            <a:r>
              <a:rPr sz="1400" b="0" i="0" dirty="0">
                <a:solidFill>
                  <a:srgbClr val="1A233A"/>
                </a:solidFill>
                <a:latin typeface="Times New Roman"/>
              </a:rPr>
              <a:t>BoT-SORT with </a:t>
            </a:r>
            <a:r>
              <a:rPr sz="1400" b="0" i="0" dirty="0" err="1">
                <a:solidFill>
                  <a:srgbClr val="1A233A"/>
                </a:solidFill>
                <a:latin typeface="Times New Roman"/>
              </a:rPr>
              <a:t>ReID</a:t>
            </a:r>
            <a:r>
              <a:rPr sz="1400" b="0" i="0" dirty="0">
                <a:solidFill>
                  <a:srgbClr val="1A233A"/>
                </a:solidFill>
                <a:latin typeface="Times New Roman"/>
              </a:rPr>
              <a:t> maintains track identity through brief occlusions and object crossings where </a:t>
            </a:r>
            <a:r>
              <a:rPr sz="1400" b="0" i="0" dirty="0" err="1">
                <a:solidFill>
                  <a:srgbClr val="1A233A"/>
                </a:solidFill>
                <a:latin typeface="Times New Roman"/>
              </a:rPr>
              <a:t>ByteTrack</a:t>
            </a:r>
            <a:r>
              <a:rPr sz="1400" b="0" i="0" dirty="0">
                <a:solidFill>
                  <a:srgbClr val="1A233A"/>
                </a:solidFill>
                <a:latin typeface="Times New Roman"/>
              </a:rPr>
              <a:t> would switch IDs.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Limitation 4 — Person Detection Too Weak</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523220"/>
          </a:xfrm>
          <a:prstGeom prst="rect">
            <a:avLst/>
          </a:prstGeom>
          <a:noFill/>
        </p:spPr>
        <p:txBody>
          <a:bodyPr wrap="square">
            <a:spAutoFit/>
          </a:bodyPr>
          <a:lstStyle/>
          <a:p>
            <a:pPr algn="l"/>
            <a:r>
              <a:rPr sz="1400" b="0" i="0">
                <a:solidFill>
                  <a:srgbClr val="1A233A"/>
                </a:solidFill>
                <a:latin typeface="Times New Roman"/>
              </a:rPr>
              <a:t>The original training data was heavily car-biased. Pedestrians were underrepresented, especially small (distant) or partially occluded ones. The model rarely detected pedestrians outside the original camera's specific viewpoint and lighting.</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1169551"/>
          </a:xfrm>
          <a:prstGeom prst="rect">
            <a:avLst/>
          </a:prstGeom>
          <a:noFill/>
        </p:spPr>
        <p:txBody>
          <a:bodyPr wrap="square">
            <a:spAutoFit/>
          </a:bodyPr>
          <a:lstStyle/>
          <a:p>
            <a:pPr algn="l"/>
            <a:r>
              <a:rPr sz="1400" b="0" i="0">
                <a:solidFill>
                  <a:srgbClr val="1A233A"/>
                </a:solidFill>
                <a:latin typeface="Times New Roman"/>
              </a:rPr>
              <a:t>Addressed through training data expansion (Limitation 2):
  •  CrowdHuman (2 101 images): dense, heavily occluded pedestrian scenes
  •  WiderPerson (5 000 images): overhead and elevated pedestrian contexts,
       including partially visible persons and cyclists mapped to person class
Class weighting (cls=1.0) applied during training to prevent car detections from dominating the loss.</a:t>
            </a: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420000" y="4495840"/>
            <a:ext cx="1660000" cy="307777"/>
          </a:xfrm>
          <a:prstGeom prst="rect">
            <a:avLst/>
          </a:prstGeom>
          <a:solidFill>
            <a:srgbClr val="1A7A3C"/>
          </a:solidFill>
        </p:spPr>
        <p:txBody>
          <a:bodyPr wrap="square">
            <a:spAutoFit/>
          </a:bodyPr>
          <a:lstStyle/>
          <a:p>
            <a:pPr algn="ctr"/>
            <a:r>
              <a:rPr sz="1400" b="1" i="0">
                <a:solidFill>
                  <a:srgbClr val="FFFFFF"/>
                </a:solidFill>
                <a:latin typeface="Times New Roman"/>
              </a:rPr>
              <a:t>RESULT</a:t>
            </a:r>
          </a:p>
        </p:txBody>
      </p:sp>
      <p:sp>
        <p:nvSpPr>
          <p:cNvPr id="12" name="TextBox 11"/>
          <p:cNvSpPr txBox="1"/>
          <p:nvPr/>
        </p:nvSpPr>
        <p:spPr>
          <a:xfrm>
            <a:off x="2160000" y="4505840"/>
            <a:ext cx="9588825" cy="954107"/>
          </a:xfrm>
          <a:prstGeom prst="rect">
            <a:avLst/>
          </a:prstGeom>
          <a:noFill/>
        </p:spPr>
        <p:txBody>
          <a:bodyPr wrap="square">
            <a:spAutoFit/>
          </a:bodyPr>
          <a:lstStyle/>
          <a:p>
            <a:pPr algn="l"/>
            <a:r>
              <a:rPr sz="1400" b="0" i="0" dirty="0">
                <a:solidFill>
                  <a:srgbClr val="1A233A"/>
                </a:solidFill>
                <a:latin typeface="Times New Roman"/>
              </a:rPr>
              <a:t>Person recall improved across all model sizes:
  YOLO</a:t>
            </a:r>
            <a:r>
              <a:rPr lang="en-US" sz="1400" b="0" i="0" dirty="0">
                <a:solidFill>
                  <a:srgbClr val="1A233A"/>
                </a:solidFill>
                <a:latin typeface="Times New Roman"/>
              </a:rPr>
              <a:t>8</a:t>
            </a:r>
            <a:r>
              <a:rPr sz="1400" b="0" i="0" dirty="0">
                <a:solidFill>
                  <a:srgbClr val="1A233A"/>
                </a:solidFill>
                <a:latin typeface="Times New Roman"/>
              </a:rPr>
              <a:t>s  0.561   →   YOLO11x  0.626  (+11.6 %)
Precision also improved (0.798 → 0.818). Person detections are more consistent across diverse benchmark videos (crowded streets, aerial views, varied lighting).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Limitation 5 — Only Two Classes</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738664"/>
          </a:xfrm>
          <a:prstGeom prst="rect">
            <a:avLst/>
          </a:prstGeom>
          <a:noFill/>
        </p:spPr>
        <p:txBody>
          <a:bodyPr wrap="square">
            <a:spAutoFit/>
          </a:bodyPr>
          <a:lstStyle/>
          <a:p>
            <a:pPr algn="l"/>
            <a:r>
              <a:rPr sz="1400" b="0" i="0" dirty="0">
                <a:solidFill>
                  <a:srgbClr val="1A233A"/>
                </a:solidFill>
                <a:latin typeface="Times New Roman"/>
              </a:rPr>
              <a:t>The original model detected only person and car. Cyclists, scooters, motorcycles, buses, and trucks were either missed entirely or misclassified — producing wrong counts and making the system unsuitable for general intersection monitoring where vehicle-type breakdown matters.</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738664"/>
          </a:xfrm>
          <a:prstGeom prst="rect">
            <a:avLst/>
          </a:prstGeom>
          <a:noFill/>
        </p:spPr>
        <p:txBody>
          <a:bodyPr wrap="square">
            <a:spAutoFit/>
          </a:bodyPr>
          <a:lstStyle/>
          <a:p>
            <a:pPr algn="l"/>
            <a:r>
              <a:rPr sz="1400" b="0" i="0" dirty="0">
                <a:solidFill>
                  <a:srgbClr val="1A233A"/>
                </a:solidFill>
                <a:latin typeface="Times New Roman"/>
              </a:rPr>
              <a:t>Two-stage approach:</a:t>
            </a:r>
            <a:endParaRPr lang="en-US" sz="1400" dirty="0">
              <a:solidFill>
                <a:srgbClr val="1A233A"/>
              </a:solidFill>
              <a:latin typeface="Times New Roman"/>
            </a:endParaRPr>
          </a:p>
          <a:p>
            <a:pPr algn="l"/>
            <a:r>
              <a:rPr sz="1400" b="0" i="0" dirty="0">
                <a:solidFill>
                  <a:srgbClr val="1A233A"/>
                </a:solidFill>
                <a:latin typeface="Times New Roman"/>
              </a:rPr>
              <a:t>motorcycle(3), bus(5), truck(7) → car;  person(0) → person
 </a:t>
            </a:r>
            <a:r>
              <a:rPr sz="1400" b="0" i="0" dirty="0" err="1">
                <a:solidFill>
                  <a:srgbClr val="1A233A"/>
                </a:solidFill>
                <a:latin typeface="Times New Roman"/>
              </a:rPr>
              <a:t>WiderPerson</a:t>
            </a:r>
            <a:r>
              <a:rPr sz="1400" b="0" i="0" dirty="0">
                <a:solidFill>
                  <a:srgbClr val="1A233A"/>
                </a:solidFill>
                <a:latin typeface="Times New Roman"/>
              </a:rPr>
              <a:t> (riders → person), COWC (aerial cars)</a:t>
            </a: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420000" y="4495840"/>
            <a:ext cx="1660000" cy="307777"/>
          </a:xfrm>
          <a:prstGeom prst="rect">
            <a:avLst/>
          </a:prstGeom>
          <a:solidFill>
            <a:srgbClr val="1A7A3C"/>
          </a:solidFill>
        </p:spPr>
        <p:txBody>
          <a:bodyPr wrap="square">
            <a:spAutoFit/>
          </a:bodyPr>
          <a:lstStyle/>
          <a:p>
            <a:pPr algn="ctr"/>
            <a:r>
              <a:rPr sz="1400" b="1" i="0">
                <a:solidFill>
                  <a:srgbClr val="FFFFFF"/>
                </a:solidFill>
                <a:latin typeface="Times New Roman"/>
              </a:rPr>
              <a:t>RESULT</a:t>
            </a:r>
          </a:p>
        </p:txBody>
      </p:sp>
      <p:sp>
        <p:nvSpPr>
          <p:cNvPr id="12" name="TextBox 11"/>
          <p:cNvSpPr txBox="1"/>
          <p:nvPr/>
        </p:nvSpPr>
        <p:spPr>
          <a:xfrm>
            <a:off x="2160000" y="4505840"/>
            <a:ext cx="9588825" cy="523220"/>
          </a:xfrm>
          <a:prstGeom prst="rect">
            <a:avLst/>
          </a:prstGeom>
          <a:noFill/>
        </p:spPr>
        <p:txBody>
          <a:bodyPr wrap="square">
            <a:spAutoFit/>
          </a:bodyPr>
          <a:lstStyle/>
          <a:p>
            <a:pPr algn="l"/>
            <a:r>
              <a:rPr sz="1400" b="0" i="0" dirty="0">
                <a:solidFill>
                  <a:srgbClr val="1A233A"/>
                </a:solidFill>
                <a:latin typeface="Times New Roman"/>
              </a:rPr>
              <a:t>The pipeline now handles motorcycles, buses, trucks, and vans</a:t>
            </a:r>
            <a:r>
              <a:rPr lang="en-US" sz="1400" b="0" i="0" dirty="0">
                <a:solidFill>
                  <a:srgbClr val="1A233A"/>
                </a:solidFill>
                <a:latin typeface="Times New Roman"/>
              </a:rPr>
              <a:t>;</a:t>
            </a:r>
            <a:r>
              <a:rPr sz="1400" b="0" i="0" dirty="0">
                <a:solidFill>
                  <a:srgbClr val="1A233A"/>
                </a:solidFill>
                <a:latin typeface="Times New Roman"/>
              </a:rPr>
              <a:t> all counted under car as overhead-view vehicles. Cyclists and scooter riders are captured under person</a:t>
            </a:r>
            <a:r>
              <a:rPr lang="en-US" sz="1400" dirty="0">
                <a:solidFill>
                  <a:srgbClr val="1A233A"/>
                </a:solidFill>
                <a:latin typeface="Times New Roman"/>
              </a:rPr>
              <a:t>.</a:t>
            </a:r>
            <a:endParaRPr sz="1400" b="0" i="0" dirty="0">
              <a:solidFill>
                <a:srgbClr val="1A233A"/>
              </a:solidFill>
              <a:latin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Open Issue — ROI Re-Entry Double Count</a:t>
            </a:r>
          </a:p>
        </p:txBody>
      </p:sp>
      <p:sp>
        <p:nvSpPr>
          <p:cNvPr id="4" name="Rectangle 3"/>
          <p:cNvSpPr/>
          <p:nvPr/>
        </p:nvSpPr>
        <p:spPr>
          <a:xfrm>
            <a:off x="400000" y="119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20000" y="1225840"/>
            <a:ext cx="1660000" cy="307777"/>
          </a:xfrm>
          <a:prstGeom prst="rect">
            <a:avLst/>
          </a:prstGeom>
          <a:solidFill>
            <a:srgbClr val="A31F1F"/>
          </a:solidFill>
        </p:spPr>
        <p:txBody>
          <a:bodyPr wrap="square">
            <a:spAutoFit/>
          </a:bodyPr>
          <a:lstStyle/>
          <a:p>
            <a:pPr algn="ctr"/>
            <a:r>
              <a:rPr sz="1400" b="1" i="0">
                <a:solidFill>
                  <a:srgbClr val="FFFFFF"/>
                </a:solidFill>
                <a:latin typeface="Times New Roman"/>
              </a:rPr>
              <a:t>PROBLEM</a:t>
            </a:r>
          </a:p>
        </p:txBody>
      </p:sp>
      <p:sp>
        <p:nvSpPr>
          <p:cNvPr id="6" name="TextBox 5"/>
          <p:cNvSpPr txBox="1"/>
          <p:nvPr/>
        </p:nvSpPr>
        <p:spPr>
          <a:xfrm>
            <a:off x="2160000" y="1235840"/>
            <a:ext cx="9588825" cy="738664"/>
          </a:xfrm>
          <a:prstGeom prst="rect">
            <a:avLst/>
          </a:prstGeom>
          <a:noFill/>
        </p:spPr>
        <p:txBody>
          <a:bodyPr wrap="square">
            <a:spAutoFit/>
          </a:bodyPr>
          <a:lstStyle/>
          <a:p>
            <a:pPr algn="l"/>
            <a:r>
              <a:rPr sz="1400" b="0" i="0">
                <a:solidFill>
                  <a:srgbClr val="1A233A"/>
                </a:solidFill>
                <a:latin typeface="Times New Roman"/>
              </a:rPr>
              <a:t>When a person exits the ROI and re-enters from a slightly different position, the ghost zone placed at the exit point does not cover the new entry location. The object is counted a second time. This is a geometric limitation of point-based ghost zones, independent of model accuracy or tracker quality.</a:t>
            </a:r>
          </a:p>
        </p:txBody>
      </p:sp>
      <p:sp>
        <p:nvSpPr>
          <p:cNvPr id="7" name="Rectangle 6"/>
          <p:cNvSpPr/>
          <p:nvPr/>
        </p:nvSpPr>
        <p:spPr>
          <a:xfrm>
            <a:off x="400000" y="2830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 name="TextBox 7"/>
          <p:cNvSpPr txBox="1"/>
          <p:nvPr/>
        </p:nvSpPr>
        <p:spPr>
          <a:xfrm>
            <a:off x="420000" y="2860840"/>
            <a:ext cx="1660000" cy="307777"/>
          </a:xfrm>
          <a:prstGeom prst="rect">
            <a:avLst/>
          </a:prstGeom>
          <a:solidFill>
            <a:srgbClr val="1A508A"/>
          </a:solidFill>
        </p:spPr>
        <p:txBody>
          <a:bodyPr wrap="square">
            <a:spAutoFit/>
          </a:bodyPr>
          <a:lstStyle/>
          <a:p>
            <a:pPr algn="ctr"/>
            <a:r>
              <a:rPr sz="1400" b="1" i="0">
                <a:solidFill>
                  <a:srgbClr val="FFFFFF"/>
                </a:solidFill>
                <a:latin typeface="Times New Roman"/>
              </a:rPr>
              <a:t>SOLUTION</a:t>
            </a:r>
          </a:p>
        </p:txBody>
      </p:sp>
      <p:sp>
        <p:nvSpPr>
          <p:cNvPr id="9" name="TextBox 8"/>
          <p:cNvSpPr txBox="1"/>
          <p:nvPr/>
        </p:nvSpPr>
        <p:spPr>
          <a:xfrm>
            <a:off x="2160000" y="2870840"/>
            <a:ext cx="9588825" cy="523220"/>
          </a:xfrm>
          <a:prstGeom prst="rect">
            <a:avLst/>
          </a:prstGeom>
          <a:noFill/>
        </p:spPr>
        <p:txBody>
          <a:bodyPr wrap="square">
            <a:spAutoFit/>
          </a:bodyPr>
          <a:lstStyle/>
          <a:p>
            <a:r>
              <a:rPr lang="en-US" sz="1400" b="0" i="0" dirty="0">
                <a:solidFill>
                  <a:srgbClr val="1A233A"/>
                </a:solidFill>
                <a:latin typeface="Times New Roman"/>
              </a:rPr>
              <a:t>Hard rules that forces the ID to be like previous IDs, if an object appears at the middle of the frame (not from edges). </a:t>
            </a:r>
            <a:r>
              <a:rPr lang="en-US" sz="1400" dirty="0">
                <a:solidFill>
                  <a:srgbClr val="1A233A"/>
                </a:solidFill>
                <a:latin typeface="Times New Roman"/>
              </a:rPr>
              <a:t>Cosine similarity can be used after feeding the box to </a:t>
            </a:r>
            <a:r>
              <a:rPr lang="en-US" sz="1400" dirty="0" err="1">
                <a:solidFill>
                  <a:srgbClr val="1A233A"/>
                </a:solidFill>
                <a:latin typeface="Times New Roman"/>
              </a:rPr>
              <a:t>OSNet</a:t>
            </a:r>
            <a:r>
              <a:rPr lang="en-US" sz="1400" dirty="0">
                <a:solidFill>
                  <a:srgbClr val="1A233A"/>
                </a:solidFill>
                <a:latin typeface="Times New Roman"/>
              </a:rPr>
              <a:t> x0.25 MSMT17 embedding. </a:t>
            </a:r>
            <a:endParaRPr sz="1400" b="0" i="0" dirty="0">
              <a:solidFill>
                <a:srgbClr val="1A233A"/>
              </a:solidFill>
              <a:latin typeface="Times New Roman"/>
            </a:endParaRPr>
          </a:p>
        </p:txBody>
      </p:sp>
      <p:sp>
        <p:nvSpPr>
          <p:cNvPr id="10" name="Rectangle 9"/>
          <p:cNvSpPr/>
          <p:nvPr/>
        </p:nvSpPr>
        <p:spPr>
          <a:xfrm>
            <a:off x="400000" y="4465840"/>
            <a:ext cx="11388825" cy="158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420000" y="4495840"/>
            <a:ext cx="1660000" cy="307777"/>
          </a:xfrm>
          <a:prstGeom prst="rect">
            <a:avLst/>
          </a:prstGeom>
          <a:solidFill>
            <a:srgbClr val="7A4A00"/>
          </a:solidFill>
        </p:spPr>
        <p:txBody>
          <a:bodyPr wrap="square">
            <a:spAutoFit/>
          </a:bodyPr>
          <a:lstStyle/>
          <a:p>
            <a:pPr algn="ctr"/>
            <a:r>
              <a:rPr sz="1400" b="1" i="0">
                <a:solidFill>
                  <a:srgbClr val="FFFFFF"/>
                </a:solidFill>
                <a:latin typeface="Times New Roman"/>
              </a:rPr>
              <a:t>STATUS</a:t>
            </a:r>
          </a:p>
        </p:txBody>
      </p:sp>
      <p:sp>
        <p:nvSpPr>
          <p:cNvPr id="12" name="TextBox 11"/>
          <p:cNvSpPr txBox="1"/>
          <p:nvPr/>
        </p:nvSpPr>
        <p:spPr>
          <a:xfrm>
            <a:off x="2160000" y="4505840"/>
            <a:ext cx="9588825" cy="307777"/>
          </a:xfrm>
          <a:prstGeom prst="rect">
            <a:avLst/>
          </a:prstGeom>
          <a:noFill/>
        </p:spPr>
        <p:txBody>
          <a:bodyPr wrap="square">
            <a:spAutoFit/>
          </a:bodyPr>
          <a:lstStyle/>
          <a:p>
            <a:pPr algn="l"/>
            <a:r>
              <a:rPr sz="1400" b="0" i="0" dirty="0">
                <a:solidFill>
                  <a:srgbClr val="1A233A"/>
                </a:solidFill>
                <a:latin typeface="Times New Roman"/>
              </a:rPr>
              <a:t>STATUS: NOT YET IMPLEMENTED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Model Performance Comparison</a:t>
            </a:r>
          </a:p>
        </p:txBody>
      </p:sp>
      <p:sp>
        <p:nvSpPr>
          <p:cNvPr id="4" name="Rectangle 3"/>
          <p:cNvSpPr/>
          <p:nvPr/>
        </p:nvSpPr>
        <p:spPr>
          <a:xfrm>
            <a:off x="400000" y="1165840"/>
            <a:ext cx="5629412" cy="38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 name="TextBox 4"/>
          <p:cNvSpPr txBox="1"/>
          <p:nvPr/>
        </p:nvSpPr>
        <p:spPr>
          <a:xfrm>
            <a:off x="440000" y="1235840"/>
            <a:ext cx="5549412" cy="307777"/>
          </a:xfrm>
          <a:prstGeom prst="rect">
            <a:avLst/>
          </a:prstGeom>
          <a:noFill/>
        </p:spPr>
        <p:txBody>
          <a:bodyPr wrap="square">
            <a:spAutoFit/>
          </a:bodyPr>
          <a:lstStyle/>
          <a:p>
            <a:pPr algn="ctr"/>
            <a:r>
              <a:rPr sz="1400" b="1" i="0" dirty="0">
                <a:solidFill>
                  <a:srgbClr val="FFFFFF"/>
                </a:solidFill>
                <a:latin typeface="Times New Roman"/>
              </a:rPr>
              <a:t>Fine-tuned — 32 k-image </a:t>
            </a:r>
            <a:r>
              <a:rPr sz="1400" b="1" i="0">
                <a:solidFill>
                  <a:srgbClr val="FFFFFF"/>
                </a:solidFill>
                <a:latin typeface="Times New Roman"/>
              </a:rPr>
              <a:t>overhead dataset</a:t>
            </a:r>
            <a:endParaRPr sz="1400" b="1" i="0" dirty="0">
              <a:solidFill>
                <a:srgbClr val="FFFFFF"/>
              </a:solidFill>
              <a:latin typeface="Times New Roman"/>
            </a:endParaRPr>
          </a:p>
        </p:txBody>
      </p:sp>
      <p:sp>
        <p:nvSpPr>
          <p:cNvPr id="6" name="Rectangle 5"/>
          <p:cNvSpPr/>
          <p:nvPr/>
        </p:nvSpPr>
        <p:spPr>
          <a:xfrm>
            <a:off x="400000" y="1545840"/>
            <a:ext cx="200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 name="TextBox 6"/>
          <p:cNvSpPr txBox="1"/>
          <p:nvPr/>
        </p:nvSpPr>
        <p:spPr>
          <a:xfrm>
            <a:off x="420000" y="1595840"/>
            <a:ext cx="1960000" cy="261610"/>
          </a:xfrm>
          <a:prstGeom prst="rect">
            <a:avLst/>
          </a:prstGeom>
          <a:noFill/>
        </p:spPr>
        <p:txBody>
          <a:bodyPr wrap="square">
            <a:spAutoFit/>
          </a:bodyPr>
          <a:lstStyle/>
          <a:p>
            <a:pPr algn="ctr"/>
            <a:r>
              <a:rPr sz="1100" b="1" i="0">
                <a:solidFill>
                  <a:srgbClr val="FFFFFF"/>
                </a:solidFill>
                <a:latin typeface="Times New Roman"/>
              </a:rPr>
              <a:t>Model</a:t>
            </a:r>
          </a:p>
        </p:txBody>
      </p:sp>
      <p:sp>
        <p:nvSpPr>
          <p:cNvPr id="8" name="Rectangle 7"/>
          <p:cNvSpPr/>
          <p:nvPr/>
        </p:nvSpPr>
        <p:spPr>
          <a:xfrm>
            <a:off x="2400000" y="1545840"/>
            <a:ext cx="87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 name="TextBox 8"/>
          <p:cNvSpPr txBox="1"/>
          <p:nvPr/>
        </p:nvSpPr>
        <p:spPr>
          <a:xfrm>
            <a:off x="2420000" y="1595840"/>
            <a:ext cx="830000" cy="261610"/>
          </a:xfrm>
          <a:prstGeom prst="rect">
            <a:avLst/>
          </a:prstGeom>
          <a:noFill/>
        </p:spPr>
        <p:txBody>
          <a:bodyPr wrap="square">
            <a:spAutoFit/>
          </a:bodyPr>
          <a:lstStyle/>
          <a:p>
            <a:pPr algn="ctr"/>
            <a:r>
              <a:rPr sz="1100" b="1" i="0">
                <a:solidFill>
                  <a:srgbClr val="FFFFFF"/>
                </a:solidFill>
                <a:latin typeface="Times New Roman"/>
              </a:rPr>
              <a:t>mAP50</a:t>
            </a:r>
          </a:p>
        </p:txBody>
      </p:sp>
      <p:sp>
        <p:nvSpPr>
          <p:cNvPr id="10" name="Rectangle 9"/>
          <p:cNvSpPr/>
          <p:nvPr/>
        </p:nvSpPr>
        <p:spPr>
          <a:xfrm>
            <a:off x="3270000" y="1545840"/>
            <a:ext cx="101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1" name="TextBox 10"/>
          <p:cNvSpPr txBox="1"/>
          <p:nvPr/>
        </p:nvSpPr>
        <p:spPr>
          <a:xfrm>
            <a:off x="3290000" y="1595840"/>
            <a:ext cx="970000" cy="261610"/>
          </a:xfrm>
          <a:prstGeom prst="rect">
            <a:avLst/>
          </a:prstGeom>
          <a:noFill/>
        </p:spPr>
        <p:txBody>
          <a:bodyPr wrap="square">
            <a:spAutoFit/>
          </a:bodyPr>
          <a:lstStyle/>
          <a:p>
            <a:pPr algn="ctr"/>
            <a:r>
              <a:rPr sz="1100" b="1" i="0">
                <a:solidFill>
                  <a:srgbClr val="FFFFFF"/>
                </a:solidFill>
                <a:latin typeface="Times New Roman"/>
              </a:rPr>
              <a:t>mAP50-95</a:t>
            </a:r>
          </a:p>
        </p:txBody>
      </p:sp>
      <p:sp>
        <p:nvSpPr>
          <p:cNvPr id="12" name="Rectangle 11"/>
          <p:cNvSpPr/>
          <p:nvPr/>
        </p:nvSpPr>
        <p:spPr>
          <a:xfrm>
            <a:off x="4280000" y="1545840"/>
            <a:ext cx="85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3" name="TextBox 12"/>
          <p:cNvSpPr txBox="1"/>
          <p:nvPr/>
        </p:nvSpPr>
        <p:spPr>
          <a:xfrm>
            <a:off x="4300000" y="1595840"/>
            <a:ext cx="810000" cy="261610"/>
          </a:xfrm>
          <a:prstGeom prst="rect">
            <a:avLst/>
          </a:prstGeom>
          <a:noFill/>
        </p:spPr>
        <p:txBody>
          <a:bodyPr wrap="square">
            <a:spAutoFit/>
          </a:bodyPr>
          <a:lstStyle/>
          <a:p>
            <a:pPr algn="ctr"/>
            <a:r>
              <a:rPr sz="1100" b="1" i="0">
                <a:solidFill>
                  <a:srgbClr val="FFFFFF"/>
                </a:solidFill>
                <a:latin typeface="Times New Roman"/>
              </a:rPr>
              <a:t>Prec</a:t>
            </a:r>
          </a:p>
        </p:txBody>
      </p:sp>
      <p:sp>
        <p:nvSpPr>
          <p:cNvPr id="14" name="Rectangle 13"/>
          <p:cNvSpPr/>
          <p:nvPr/>
        </p:nvSpPr>
        <p:spPr>
          <a:xfrm>
            <a:off x="5130000" y="1545840"/>
            <a:ext cx="899412"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5" name="TextBox 14"/>
          <p:cNvSpPr txBox="1"/>
          <p:nvPr/>
        </p:nvSpPr>
        <p:spPr>
          <a:xfrm>
            <a:off x="5150000" y="1595840"/>
            <a:ext cx="859412" cy="261610"/>
          </a:xfrm>
          <a:prstGeom prst="rect">
            <a:avLst/>
          </a:prstGeom>
          <a:noFill/>
        </p:spPr>
        <p:txBody>
          <a:bodyPr wrap="square">
            <a:spAutoFit/>
          </a:bodyPr>
          <a:lstStyle/>
          <a:p>
            <a:pPr algn="ctr"/>
            <a:r>
              <a:rPr sz="1100" b="1" i="0">
                <a:solidFill>
                  <a:srgbClr val="FFFFFF"/>
                </a:solidFill>
                <a:latin typeface="Times New Roman"/>
              </a:rPr>
              <a:t>Recall</a:t>
            </a:r>
          </a:p>
        </p:txBody>
      </p:sp>
      <p:sp>
        <p:nvSpPr>
          <p:cNvPr id="16" name="Rectangle 15"/>
          <p:cNvSpPr/>
          <p:nvPr/>
        </p:nvSpPr>
        <p:spPr>
          <a:xfrm>
            <a:off x="400000" y="1875840"/>
            <a:ext cx="200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7" name="TextBox 16"/>
          <p:cNvSpPr txBox="1"/>
          <p:nvPr/>
        </p:nvSpPr>
        <p:spPr>
          <a:xfrm>
            <a:off x="420000" y="1945840"/>
            <a:ext cx="1960000" cy="261610"/>
          </a:xfrm>
          <a:prstGeom prst="rect">
            <a:avLst/>
          </a:prstGeom>
          <a:noFill/>
        </p:spPr>
        <p:txBody>
          <a:bodyPr wrap="square">
            <a:spAutoFit/>
          </a:bodyPr>
          <a:lstStyle/>
          <a:p>
            <a:pPr algn="l"/>
            <a:r>
              <a:rPr sz="1100" b="0" i="0">
                <a:solidFill>
                  <a:srgbClr val="1A233A"/>
                </a:solidFill>
                <a:latin typeface="Times New Roman"/>
              </a:rPr>
              <a:t>YOLO11s</a:t>
            </a:r>
          </a:p>
        </p:txBody>
      </p:sp>
      <p:sp>
        <p:nvSpPr>
          <p:cNvPr id="18" name="Rectangle 17"/>
          <p:cNvSpPr/>
          <p:nvPr/>
        </p:nvSpPr>
        <p:spPr>
          <a:xfrm>
            <a:off x="2400000" y="1875840"/>
            <a:ext cx="87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9" name="TextBox 18"/>
          <p:cNvSpPr txBox="1"/>
          <p:nvPr/>
        </p:nvSpPr>
        <p:spPr>
          <a:xfrm>
            <a:off x="2420000" y="1945840"/>
            <a:ext cx="830000" cy="261610"/>
          </a:xfrm>
          <a:prstGeom prst="rect">
            <a:avLst/>
          </a:prstGeom>
          <a:noFill/>
        </p:spPr>
        <p:txBody>
          <a:bodyPr wrap="square">
            <a:spAutoFit/>
          </a:bodyPr>
          <a:lstStyle/>
          <a:p>
            <a:pPr algn="ctr"/>
            <a:r>
              <a:rPr sz="1100" b="0" i="0">
                <a:solidFill>
                  <a:srgbClr val="1A233A"/>
                </a:solidFill>
                <a:latin typeface="Times New Roman"/>
              </a:rPr>
              <a:t>0.631</a:t>
            </a:r>
          </a:p>
        </p:txBody>
      </p:sp>
      <p:sp>
        <p:nvSpPr>
          <p:cNvPr id="20" name="Rectangle 19"/>
          <p:cNvSpPr/>
          <p:nvPr/>
        </p:nvSpPr>
        <p:spPr>
          <a:xfrm>
            <a:off x="3270000" y="1875840"/>
            <a:ext cx="101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1" name="TextBox 20"/>
          <p:cNvSpPr txBox="1"/>
          <p:nvPr/>
        </p:nvSpPr>
        <p:spPr>
          <a:xfrm>
            <a:off x="3290000" y="1945840"/>
            <a:ext cx="970000" cy="261610"/>
          </a:xfrm>
          <a:prstGeom prst="rect">
            <a:avLst/>
          </a:prstGeom>
          <a:noFill/>
        </p:spPr>
        <p:txBody>
          <a:bodyPr wrap="square">
            <a:spAutoFit/>
          </a:bodyPr>
          <a:lstStyle/>
          <a:p>
            <a:pPr algn="ctr"/>
            <a:r>
              <a:rPr sz="1100" b="0" i="0">
                <a:solidFill>
                  <a:srgbClr val="1A233A"/>
                </a:solidFill>
                <a:latin typeface="Times New Roman"/>
              </a:rPr>
              <a:t>0.367</a:t>
            </a:r>
          </a:p>
        </p:txBody>
      </p:sp>
      <p:sp>
        <p:nvSpPr>
          <p:cNvPr id="22" name="Rectangle 21"/>
          <p:cNvSpPr/>
          <p:nvPr/>
        </p:nvSpPr>
        <p:spPr>
          <a:xfrm>
            <a:off x="4280000" y="1875840"/>
            <a:ext cx="85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p:cNvSpPr txBox="1"/>
          <p:nvPr/>
        </p:nvSpPr>
        <p:spPr>
          <a:xfrm>
            <a:off x="4300000" y="1945840"/>
            <a:ext cx="810000" cy="261610"/>
          </a:xfrm>
          <a:prstGeom prst="rect">
            <a:avLst/>
          </a:prstGeom>
          <a:noFill/>
        </p:spPr>
        <p:txBody>
          <a:bodyPr wrap="square">
            <a:spAutoFit/>
          </a:bodyPr>
          <a:lstStyle/>
          <a:p>
            <a:pPr algn="ctr"/>
            <a:r>
              <a:rPr sz="1100" b="0" i="0">
                <a:solidFill>
                  <a:srgbClr val="1A233A"/>
                </a:solidFill>
                <a:latin typeface="Times New Roman"/>
              </a:rPr>
              <a:t>0.798</a:t>
            </a:r>
          </a:p>
        </p:txBody>
      </p:sp>
      <p:sp>
        <p:nvSpPr>
          <p:cNvPr id="24" name="Rectangle 23"/>
          <p:cNvSpPr/>
          <p:nvPr/>
        </p:nvSpPr>
        <p:spPr>
          <a:xfrm>
            <a:off x="5130000" y="1875840"/>
            <a:ext cx="899412"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5" name="TextBox 24"/>
          <p:cNvSpPr txBox="1"/>
          <p:nvPr/>
        </p:nvSpPr>
        <p:spPr>
          <a:xfrm>
            <a:off x="5150000" y="1945840"/>
            <a:ext cx="859412" cy="261610"/>
          </a:xfrm>
          <a:prstGeom prst="rect">
            <a:avLst/>
          </a:prstGeom>
          <a:noFill/>
        </p:spPr>
        <p:txBody>
          <a:bodyPr wrap="square">
            <a:spAutoFit/>
          </a:bodyPr>
          <a:lstStyle/>
          <a:p>
            <a:pPr algn="ctr"/>
            <a:r>
              <a:rPr sz="1100" b="0" i="0">
                <a:solidFill>
                  <a:srgbClr val="1A233A"/>
                </a:solidFill>
                <a:latin typeface="Times New Roman"/>
              </a:rPr>
              <a:t>0.561</a:t>
            </a:r>
          </a:p>
        </p:txBody>
      </p:sp>
      <p:sp>
        <p:nvSpPr>
          <p:cNvPr id="26" name="Rectangle 25"/>
          <p:cNvSpPr/>
          <p:nvPr/>
        </p:nvSpPr>
        <p:spPr>
          <a:xfrm>
            <a:off x="400000" y="2305840"/>
            <a:ext cx="200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TextBox 26"/>
          <p:cNvSpPr txBox="1"/>
          <p:nvPr/>
        </p:nvSpPr>
        <p:spPr>
          <a:xfrm>
            <a:off x="420000" y="2375840"/>
            <a:ext cx="1960000" cy="261610"/>
          </a:xfrm>
          <a:prstGeom prst="rect">
            <a:avLst/>
          </a:prstGeom>
          <a:noFill/>
        </p:spPr>
        <p:txBody>
          <a:bodyPr wrap="square">
            <a:spAutoFit/>
          </a:bodyPr>
          <a:lstStyle/>
          <a:p>
            <a:pPr algn="l"/>
            <a:r>
              <a:rPr sz="1100" b="0" i="0">
                <a:solidFill>
                  <a:srgbClr val="1A233A"/>
                </a:solidFill>
                <a:latin typeface="Times New Roman"/>
              </a:rPr>
              <a:t>YOLO11m</a:t>
            </a:r>
          </a:p>
        </p:txBody>
      </p:sp>
      <p:sp>
        <p:nvSpPr>
          <p:cNvPr id="28" name="Rectangle 27"/>
          <p:cNvSpPr/>
          <p:nvPr/>
        </p:nvSpPr>
        <p:spPr>
          <a:xfrm>
            <a:off x="2400000" y="2305840"/>
            <a:ext cx="87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TextBox 28"/>
          <p:cNvSpPr txBox="1"/>
          <p:nvPr/>
        </p:nvSpPr>
        <p:spPr>
          <a:xfrm>
            <a:off x="2420000" y="2375840"/>
            <a:ext cx="830000" cy="261610"/>
          </a:xfrm>
          <a:prstGeom prst="rect">
            <a:avLst/>
          </a:prstGeom>
          <a:noFill/>
        </p:spPr>
        <p:txBody>
          <a:bodyPr wrap="square">
            <a:spAutoFit/>
          </a:bodyPr>
          <a:lstStyle/>
          <a:p>
            <a:pPr algn="ctr"/>
            <a:r>
              <a:rPr sz="1100" b="0" i="0">
                <a:solidFill>
                  <a:srgbClr val="1A233A"/>
                </a:solidFill>
                <a:latin typeface="Times New Roman"/>
              </a:rPr>
              <a:t>0.671</a:t>
            </a:r>
          </a:p>
        </p:txBody>
      </p:sp>
      <p:sp>
        <p:nvSpPr>
          <p:cNvPr id="30" name="Rectangle 29"/>
          <p:cNvSpPr/>
          <p:nvPr/>
        </p:nvSpPr>
        <p:spPr>
          <a:xfrm>
            <a:off x="3270000" y="2305840"/>
            <a:ext cx="101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1" name="TextBox 30"/>
          <p:cNvSpPr txBox="1"/>
          <p:nvPr/>
        </p:nvSpPr>
        <p:spPr>
          <a:xfrm>
            <a:off x="3290000" y="2375840"/>
            <a:ext cx="970000" cy="261610"/>
          </a:xfrm>
          <a:prstGeom prst="rect">
            <a:avLst/>
          </a:prstGeom>
          <a:noFill/>
        </p:spPr>
        <p:txBody>
          <a:bodyPr wrap="square">
            <a:spAutoFit/>
          </a:bodyPr>
          <a:lstStyle/>
          <a:p>
            <a:pPr algn="ctr"/>
            <a:r>
              <a:rPr sz="1100" b="0" i="0">
                <a:solidFill>
                  <a:srgbClr val="1A233A"/>
                </a:solidFill>
                <a:latin typeface="Times New Roman"/>
              </a:rPr>
              <a:t>0.399</a:t>
            </a:r>
          </a:p>
        </p:txBody>
      </p:sp>
      <p:sp>
        <p:nvSpPr>
          <p:cNvPr id="32" name="Rectangle 31"/>
          <p:cNvSpPr/>
          <p:nvPr/>
        </p:nvSpPr>
        <p:spPr>
          <a:xfrm>
            <a:off x="4280000" y="2305840"/>
            <a:ext cx="85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3" name="TextBox 32"/>
          <p:cNvSpPr txBox="1"/>
          <p:nvPr/>
        </p:nvSpPr>
        <p:spPr>
          <a:xfrm>
            <a:off x="4300000" y="2375840"/>
            <a:ext cx="810000" cy="261610"/>
          </a:xfrm>
          <a:prstGeom prst="rect">
            <a:avLst/>
          </a:prstGeom>
          <a:noFill/>
        </p:spPr>
        <p:txBody>
          <a:bodyPr wrap="square">
            <a:spAutoFit/>
          </a:bodyPr>
          <a:lstStyle/>
          <a:p>
            <a:pPr algn="ctr"/>
            <a:r>
              <a:rPr sz="1100" b="0" i="0">
                <a:solidFill>
                  <a:srgbClr val="1A233A"/>
                </a:solidFill>
                <a:latin typeface="Times New Roman"/>
              </a:rPr>
              <a:t>0.816</a:t>
            </a:r>
          </a:p>
        </p:txBody>
      </p:sp>
      <p:sp>
        <p:nvSpPr>
          <p:cNvPr id="34" name="Rectangle 33"/>
          <p:cNvSpPr/>
          <p:nvPr/>
        </p:nvSpPr>
        <p:spPr>
          <a:xfrm>
            <a:off x="5130000" y="2305840"/>
            <a:ext cx="899412"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5" name="TextBox 34"/>
          <p:cNvSpPr txBox="1"/>
          <p:nvPr/>
        </p:nvSpPr>
        <p:spPr>
          <a:xfrm>
            <a:off x="5150000" y="2375840"/>
            <a:ext cx="859412" cy="261610"/>
          </a:xfrm>
          <a:prstGeom prst="rect">
            <a:avLst/>
          </a:prstGeom>
          <a:noFill/>
        </p:spPr>
        <p:txBody>
          <a:bodyPr wrap="square">
            <a:spAutoFit/>
          </a:bodyPr>
          <a:lstStyle/>
          <a:p>
            <a:pPr algn="ctr"/>
            <a:r>
              <a:rPr sz="1100" b="0" i="0">
                <a:solidFill>
                  <a:srgbClr val="1A233A"/>
                </a:solidFill>
                <a:latin typeface="Times New Roman"/>
              </a:rPr>
              <a:t>0.606</a:t>
            </a:r>
          </a:p>
        </p:txBody>
      </p:sp>
      <p:sp>
        <p:nvSpPr>
          <p:cNvPr id="36" name="Rectangle 35"/>
          <p:cNvSpPr/>
          <p:nvPr/>
        </p:nvSpPr>
        <p:spPr>
          <a:xfrm>
            <a:off x="400000" y="2735840"/>
            <a:ext cx="200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TextBox 36"/>
          <p:cNvSpPr txBox="1"/>
          <p:nvPr/>
        </p:nvSpPr>
        <p:spPr>
          <a:xfrm>
            <a:off x="420000" y="2805840"/>
            <a:ext cx="1960000" cy="261610"/>
          </a:xfrm>
          <a:prstGeom prst="rect">
            <a:avLst/>
          </a:prstGeom>
          <a:noFill/>
        </p:spPr>
        <p:txBody>
          <a:bodyPr wrap="square">
            <a:spAutoFit/>
          </a:bodyPr>
          <a:lstStyle/>
          <a:p>
            <a:pPr algn="l"/>
            <a:r>
              <a:rPr sz="1100" b="0" i="0">
                <a:solidFill>
                  <a:srgbClr val="1A233A"/>
                </a:solidFill>
                <a:latin typeface="Times New Roman"/>
              </a:rPr>
              <a:t>YOLO11l</a:t>
            </a:r>
          </a:p>
        </p:txBody>
      </p:sp>
      <p:sp>
        <p:nvSpPr>
          <p:cNvPr id="38" name="Rectangle 37"/>
          <p:cNvSpPr/>
          <p:nvPr/>
        </p:nvSpPr>
        <p:spPr>
          <a:xfrm>
            <a:off x="2400000" y="2735840"/>
            <a:ext cx="87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9" name="TextBox 38"/>
          <p:cNvSpPr txBox="1"/>
          <p:nvPr/>
        </p:nvSpPr>
        <p:spPr>
          <a:xfrm>
            <a:off x="2420000" y="2805840"/>
            <a:ext cx="830000" cy="261610"/>
          </a:xfrm>
          <a:prstGeom prst="rect">
            <a:avLst/>
          </a:prstGeom>
          <a:noFill/>
        </p:spPr>
        <p:txBody>
          <a:bodyPr wrap="square">
            <a:spAutoFit/>
          </a:bodyPr>
          <a:lstStyle/>
          <a:p>
            <a:pPr algn="ctr"/>
            <a:r>
              <a:rPr sz="1100" b="0" i="0">
                <a:solidFill>
                  <a:srgbClr val="1A233A"/>
                </a:solidFill>
                <a:latin typeface="Times New Roman"/>
              </a:rPr>
              <a:t>0.677</a:t>
            </a:r>
          </a:p>
        </p:txBody>
      </p:sp>
      <p:sp>
        <p:nvSpPr>
          <p:cNvPr id="40" name="Rectangle 39"/>
          <p:cNvSpPr/>
          <p:nvPr/>
        </p:nvSpPr>
        <p:spPr>
          <a:xfrm>
            <a:off x="3270000" y="2735840"/>
            <a:ext cx="101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1" name="TextBox 40"/>
          <p:cNvSpPr txBox="1"/>
          <p:nvPr/>
        </p:nvSpPr>
        <p:spPr>
          <a:xfrm>
            <a:off x="3290000" y="2805840"/>
            <a:ext cx="970000" cy="261610"/>
          </a:xfrm>
          <a:prstGeom prst="rect">
            <a:avLst/>
          </a:prstGeom>
          <a:noFill/>
        </p:spPr>
        <p:txBody>
          <a:bodyPr wrap="square">
            <a:spAutoFit/>
          </a:bodyPr>
          <a:lstStyle/>
          <a:p>
            <a:pPr algn="ctr"/>
            <a:r>
              <a:rPr sz="1100" b="0" i="0">
                <a:solidFill>
                  <a:srgbClr val="1A233A"/>
                </a:solidFill>
                <a:latin typeface="Times New Roman"/>
              </a:rPr>
              <a:t>0.407</a:t>
            </a:r>
          </a:p>
        </p:txBody>
      </p:sp>
      <p:sp>
        <p:nvSpPr>
          <p:cNvPr id="42" name="Rectangle 41"/>
          <p:cNvSpPr/>
          <p:nvPr/>
        </p:nvSpPr>
        <p:spPr>
          <a:xfrm>
            <a:off x="4280000" y="2735840"/>
            <a:ext cx="85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3" name="TextBox 42"/>
          <p:cNvSpPr txBox="1"/>
          <p:nvPr/>
        </p:nvSpPr>
        <p:spPr>
          <a:xfrm>
            <a:off x="4300000" y="2805840"/>
            <a:ext cx="810000" cy="261610"/>
          </a:xfrm>
          <a:prstGeom prst="rect">
            <a:avLst/>
          </a:prstGeom>
          <a:noFill/>
        </p:spPr>
        <p:txBody>
          <a:bodyPr wrap="square">
            <a:spAutoFit/>
          </a:bodyPr>
          <a:lstStyle/>
          <a:p>
            <a:pPr algn="ctr"/>
            <a:r>
              <a:rPr sz="1100" b="0" i="0">
                <a:solidFill>
                  <a:srgbClr val="1A233A"/>
                </a:solidFill>
                <a:latin typeface="Times New Roman"/>
              </a:rPr>
              <a:t>0.816</a:t>
            </a:r>
          </a:p>
        </p:txBody>
      </p:sp>
      <p:sp>
        <p:nvSpPr>
          <p:cNvPr id="44" name="Rectangle 43"/>
          <p:cNvSpPr/>
          <p:nvPr/>
        </p:nvSpPr>
        <p:spPr>
          <a:xfrm>
            <a:off x="5130000" y="2735840"/>
            <a:ext cx="899412"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5" name="TextBox 44"/>
          <p:cNvSpPr txBox="1"/>
          <p:nvPr/>
        </p:nvSpPr>
        <p:spPr>
          <a:xfrm>
            <a:off x="5150000" y="2805840"/>
            <a:ext cx="859412" cy="261610"/>
          </a:xfrm>
          <a:prstGeom prst="rect">
            <a:avLst/>
          </a:prstGeom>
          <a:noFill/>
        </p:spPr>
        <p:txBody>
          <a:bodyPr wrap="square">
            <a:spAutoFit/>
          </a:bodyPr>
          <a:lstStyle/>
          <a:p>
            <a:pPr algn="ctr"/>
            <a:r>
              <a:rPr sz="1100" b="0" i="0">
                <a:solidFill>
                  <a:srgbClr val="1A233A"/>
                </a:solidFill>
                <a:latin typeface="Times New Roman"/>
              </a:rPr>
              <a:t>0.612</a:t>
            </a:r>
          </a:p>
        </p:txBody>
      </p:sp>
      <p:sp>
        <p:nvSpPr>
          <p:cNvPr id="46" name="Rectangle 45"/>
          <p:cNvSpPr/>
          <p:nvPr/>
        </p:nvSpPr>
        <p:spPr>
          <a:xfrm>
            <a:off x="400000" y="3165840"/>
            <a:ext cx="200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TextBox 46"/>
          <p:cNvSpPr txBox="1"/>
          <p:nvPr/>
        </p:nvSpPr>
        <p:spPr>
          <a:xfrm>
            <a:off x="420000" y="3235840"/>
            <a:ext cx="1960000" cy="261610"/>
          </a:xfrm>
          <a:prstGeom prst="rect">
            <a:avLst/>
          </a:prstGeom>
          <a:noFill/>
        </p:spPr>
        <p:txBody>
          <a:bodyPr wrap="square">
            <a:spAutoFit/>
          </a:bodyPr>
          <a:lstStyle/>
          <a:p>
            <a:pPr algn="l"/>
            <a:r>
              <a:rPr sz="1100" b="0" i="0">
                <a:solidFill>
                  <a:srgbClr val="1A233A"/>
                </a:solidFill>
                <a:latin typeface="Times New Roman"/>
              </a:rPr>
              <a:t>YOLO11x</a:t>
            </a:r>
          </a:p>
        </p:txBody>
      </p:sp>
      <p:sp>
        <p:nvSpPr>
          <p:cNvPr id="48" name="Rectangle 47"/>
          <p:cNvSpPr/>
          <p:nvPr/>
        </p:nvSpPr>
        <p:spPr>
          <a:xfrm>
            <a:off x="2400000" y="3165840"/>
            <a:ext cx="87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p:cNvSpPr txBox="1"/>
          <p:nvPr/>
        </p:nvSpPr>
        <p:spPr>
          <a:xfrm>
            <a:off x="2420000" y="3235840"/>
            <a:ext cx="830000" cy="261610"/>
          </a:xfrm>
          <a:prstGeom prst="rect">
            <a:avLst/>
          </a:prstGeom>
          <a:noFill/>
        </p:spPr>
        <p:txBody>
          <a:bodyPr wrap="square">
            <a:spAutoFit/>
          </a:bodyPr>
          <a:lstStyle/>
          <a:p>
            <a:pPr algn="ctr"/>
            <a:r>
              <a:rPr sz="1100" b="1" i="0">
                <a:solidFill>
                  <a:srgbClr val="1A7A3C"/>
                </a:solidFill>
                <a:latin typeface="Times New Roman"/>
              </a:rPr>
              <a:t>0.689</a:t>
            </a:r>
          </a:p>
        </p:txBody>
      </p:sp>
      <p:sp>
        <p:nvSpPr>
          <p:cNvPr id="50" name="Rectangle 49"/>
          <p:cNvSpPr/>
          <p:nvPr/>
        </p:nvSpPr>
        <p:spPr>
          <a:xfrm>
            <a:off x="3270000" y="3165840"/>
            <a:ext cx="101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1" name="TextBox 50"/>
          <p:cNvSpPr txBox="1"/>
          <p:nvPr/>
        </p:nvSpPr>
        <p:spPr>
          <a:xfrm>
            <a:off x="3290000" y="3235840"/>
            <a:ext cx="970000" cy="261610"/>
          </a:xfrm>
          <a:prstGeom prst="rect">
            <a:avLst/>
          </a:prstGeom>
          <a:noFill/>
        </p:spPr>
        <p:txBody>
          <a:bodyPr wrap="square">
            <a:spAutoFit/>
          </a:bodyPr>
          <a:lstStyle/>
          <a:p>
            <a:pPr algn="ctr"/>
            <a:r>
              <a:rPr sz="1100" b="1" i="0">
                <a:solidFill>
                  <a:srgbClr val="1A7A3C"/>
                </a:solidFill>
                <a:latin typeface="Times New Roman"/>
              </a:rPr>
              <a:t>0.416</a:t>
            </a:r>
          </a:p>
        </p:txBody>
      </p:sp>
      <p:sp>
        <p:nvSpPr>
          <p:cNvPr id="52" name="Rectangle 51"/>
          <p:cNvSpPr/>
          <p:nvPr/>
        </p:nvSpPr>
        <p:spPr>
          <a:xfrm>
            <a:off x="4280000" y="3165840"/>
            <a:ext cx="85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3" name="TextBox 52"/>
          <p:cNvSpPr txBox="1"/>
          <p:nvPr/>
        </p:nvSpPr>
        <p:spPr>
          <a:xfrm>
            <a:off x="4300000" y="3235840"/>
            <a:ext cx="810000" cy="261610"/>
          </a:xfrm>
          <a:prstGeom prst="rect">
            <a:avLst/>
          </a:prstGeom>
          <a:noFill/>
        </p:spPr>
        <p:txBody>
          <a:bodyPr wrap="square">
            <a:spAutoFit/>
          </a:bodyPr>
          <a:lstStyle/>
          <a:p>
            <a:pPr algn="ctr"/>
            <a:r>
              <a:rPr sz="1100" b="1" i="0">
                <a:solidFill>
                  <a:srgbClr val="1A7A3C"/>
                </a:solidFill>
                <a:latin typeface="Times New Roman"/>
              </a:rPr>
              <a:t>0.818</a:t>
            </a:r>
          </a:p>
        </p:txBody>
      </p:sp>
      <p:sp>
        <p:nvSpPr>
          <p:cNvPr id="54" name="Rectangle 53"/>
          <p:cNvSpPr/>
          <p:nvPr/>
        </p:nvSpPr>
        <p:spPr>
          <a:xfrm>
            <a:off x="5130000" y="3165840"/>
            <a:ext cx="899412"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5" name="TextBox 54"/>
          <p:cNvSpPr txBox="1"/>
          <p:nvPr/>
        </p:nvSpPr>
        <p:spPr>
          <a:xfrm>
            <a:off x="5150000" y="3235840"/>
            <a:ext cx="859412" cy="261610"/>
          </a:xfrm>
          <a:prstGeom prst="rect">
            <a:avLst/>
          </a:prstGeom>
          <a:noFill/>
        </p:spPr>
        <p:txBody>
          <a:bodyPr wrap="square">
            <a:spAutoFit/>
          </a:bodyPr>
          <a:lstStyle/>
          <a:p>
            <a:pPr algn="ctr"/>
            <a:r>
              <a:rPr sz="1100" b="1" i="0" dirty="0">
                <a:solidFill>
                  <a:srgbClr val="1A7A3C"/>
                </a:solidFill>
                <a:latin typeface="Times New Roman"/>
              </a:rPr>
              <a:t>0.626</a:t>
            </a:r>
          </a:p>
        </p:txBody>
      </p:sp>
      <p:sp>
        <p:nvSpPr>
          <p:cNvPr id="56" name="Rectangle 55"/>
          <p:cNvSpPr/>
          <p:nvPr/>
        </p:nvSpPr>
        <p:spPr>
          <a:xfrm>
            <a:off x="6159412" y="1165840"/>
            <a:ext cx="5629412" cy="38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TextBox 56"/>
          <p:cNvSpPr txBox="1"/>
          <p:nvPr/>
        </p:nvSpPr>
        <p:spPr>
          <a:xfrm>
            <a:off x="6199412" y="1235840"/>
            <a:ext cx="5549412" cy="307777"/>
          </a:xfrm>
          <a:prstGeom prst="rect">
            <a:avLst/>
          </a:prstGeom>
          <a:noFill/>
        </p:spPr>
        <p:txBody>
          <a:bodyPr wrap="square">
            <a:spAutoFit/>
          </a:bodyPr>
          <a:lstStyle/>
          <a:p>
            <a:pPr algn="ctr"/>
            <a:r>
              <a:rPr sz="1400" b="1" i="0" dirty="0">
                <a:solidFill>
                  <a:srgbClr val="FFFFFF"/>
                </a:solidFill>
                <a:latin typeface="Times New Roman"/>
              </a:rPr>
              <a:t>COCO Pretrained — COCO classes remapped at inference</a:t>
            </a:r>
          </a:p>
        </p:txBody>
      </p:sp>
      <p:sp>
        <p:nvSpPr>
          <p:cNvPr id="58" name="Rectangle 57"/>
          <p:cNvSpPr/>
          <p:nvPr/>
        </p:nvSpPr>
        <p:spPr>
          <a:xfrm>
            <a:off x="6159412" y="1545840"/>
            <a:ext cx="200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9" name="TextBox 58"/>
          <p:cNvSpPr txBox="1"/>
          <p:nvPr/>
        </p:nvSpPr>
        <p:spPr>
          <a:xfrm>
            <a:off x="6179412" y="1595840"/>
            <a:ext cx="1960000" cy="261610"/>
          </a:xfrm>
          <a:prstGeom prst="rect">
            <a:avLst/>
          </a:prstGeom>
          <a:noFill/>
        </p:spPr>
        <p:txBody>
          <a:bodyPr wrap="square">
            <a:spAutoFit/>
          </a:bodyPr>
          <a:lstStyle/>
          <a:p>
            <a:pPr algn="ctr"/>
            <a:r>
              <a:rPr sz="1100" b="1" i="0">
                <a:solidFill>
                  <a:srgbClr val="FFFFFF"/>
                </a:solidFill>
                <a:latin typeface="Times New Roman"/>
              </a:rPr>
              <a:t>Model</a:t>
            </a:r>
          </a:p>
        </p:txBody>
      </p:sp>
      <p:sp>
        <p:nvSpPr>
          <p:cNvPr id="60" name="Rectangle 59"/>
          <p:cNvSpPr/>
          <p:nvPr/>
        </p:nvSpPr>
        <p:spPr>
          <a:xfrm>
            <a:off x="8159412" y="1545840"/>
            <a:ext cx="87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1" name="TextBox 60"/>
          <p:cNvSpPr txBox="1"/>
          <p:nvPr/>
        </p:nvSpPr>
        <p:spPr>
          <a:xfrm>
            <a:off x="8179412" y="1595840"/>
            <a:ext cx="830000" cy="261610"/>
          </a:xfrm>
          <a:prstGeom prst="rect">
            <a:avLst/>
          </a:prstGeom>
          <a:noFill/>
        </p:spPr>
        <p:txBody>
          <a:bodyPr wrap="square">
            <a:spAutoFit/>
          </a:bodyPr>
          <a:lstStyle/>
          <a:p>
            <a:pPr algn="ctr"/>
            <a:r>
              <a:rPr sz="1100" b="1" i="0">
                <a:solidFill>
                  <a:srgbClr val="FFFFFF"/>
                </a:solidFill>
                <a:latin typeface="Times New Roman"/>
              </a:rPr>
              <a:t>mAP50</a:t>
            </a:r>
          </a:p>
        </p:txBody>
      </p:sp>
      <p:sp>
        <p:nvSpPr>
          <p:cNvPr id="62" name="Rectangle 61"/>
          <p:cNvSpPr/>
          <p:nvPr/>
        </p:nvSpPr>
        <p:spPr>
          <a:xfrm>
            <a:off x="9029412" y="1545840"/>
            <a:ext cx="101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3" name="TextBox 62"/>
          <p:cNvSpPr txBox="1"/>
          <p:nvPr/>
        </p:nvSpPr>
        <p:spPr>
          <a:xfrm>
            <a:off x="9049412" y="1595840"/>
            <a:ext cx="970000" cy="261610"/>
          </a:xfrm>
          <a:prstGeom prst="rect">
            <a:avLst/>
          </a:prstGeom>
          <a:noFill/>
        </p:spPr>
        <p:txBody>
          <a:bodyPr wrap="square">
            <a:spAutoFit/>
          </a:bodyPr>
          <a:lstStyle/>
          <a:p>
            <a:pPr algn="ctr"/>
            <a:r>
              <a:rPr sz="1100" b="1" i="0">
                <a:solidFill>
                  <a:srgbClr val="FFFFFF"/>
                </a:solidFill>
                <a:latin typeface="Times New Roman"/>
              </a:rPr>
              <a:t>mAP50-95</a:t>
            </a:r>
          </a:p>
        </p:txBody>
      </p:sp>
      <p:sp>
        <p:nvSpPr>
          <p:cNvPr id="64" name="Rectangle 63"/>
          <p:cNvSpPr/>
          <p:nvPr/>
        </p:nvSpPr>
        <p:spPr>
          <a:xfrm>
            <a:off x="10039412" y="1545840"/>
            <a:ext cx="850000"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5" name="TextBox 64"/>
          <p:cNvSpPr txBox="1"/>
          <p:nvPr/>
        </p:nvSpPr>
        <p:spPr>
          <a:xfrm>
            <a:off x="10059412" y="1595840"/>
            <a:ext cx="810000" cy="261610"/>
          </a:xfrm>
          <a:prstGeom prst="rect">
            <a:avLst/>
          </a:prstGeom>
          <a:noFill/>
        </p:spPr>
        <p:txBody>
          <a:bodyPr wrap="square">
            <a:spAutoFit/>
          </a:bodyPr>
          <a:lstStyle/>
          <a:p>
            <a:pPr algn="ctr"/>
            <a:r>
              <a:rPr sz="1100" b="1" i="0">
                <a:solidFill>
                  <a:srgbClr val="FFFFFF"/>
                </a:solidFill>
                <a:latin typeface="Times New Roman"/>
              </a:rPr>
              <a:t>Prec</a:t>
            </a:r>
          </a:p>
        </p:txBody>
      </p:sp>
      <p:sp>
        <p:nvSpPr>
          <p:cNvPr id="66" name="Rectangle 65"/>
          <p:cNvSpPr/>
          <p:nvPr/>
        </p:nvSpPr>
        <p:spPr>
          <a:xfrm>
            <a:off x="10889412" y="1545840"/>
            <a:ext cx="899412" cy="33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7" name="TextBox 66"/>
          <p:cNvSpPr txBox="1"/>
          <p:nvPr/>
        </p:nvSpPr>
        <p:spPr>
          <a:xfrm>
            <a:off x="10909412" y="1595840"/>
            <a:ext cx="859412" cy="261610"/>
          </a:xfrm>
          <a:prstGeom prst="rect">
            <a:avLst/>
          </a:prstGeom>
          <a:noFill/>
        </p:spPr>
        <p:txBody>
          <a:bodyPr wrap="square">
            <a:spAutoFit/>
          </a:bodyPr>
          <a:lstStyle/>
          <a:p>
            <a:pPr algn="ctr"/>
            <a:r>
              <a:rPr sz="1100" b="1" i="0">
                <a:solidFill>
                  <a:srgbClr val="FFFFFF"/>
                </a:solidFill>
                <a:latin typeface="Times New Roman"/>
              </a:rPr>
              <a:t>Recall</a:t>
            </a:r>
          </a:p>
        </p:txBody>
      </p:sp>
      <p:sp>
        <p:nvSpPr>
          <p:cNvPr id="68" name="Rectangle 67"/>
          <p:cNvSpPr/>
          <p:nvPr/>
        </p:nvSpPr>
        <p:spPr>
          <a:xfrm>
            <a:off x="6159412" y="1875840"/>
            <a:ext cx="200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69" name="TextBox 68"/>
          <p:cNvSpPr txBox="1"/>
          <p:nvPr/>
        </p:nvSpPr>
        <p:spPr>
          <a:xfrm>
            <a:off x="6179412" y="1945840"/>
            <a:ext cx="1960000" cy="261610"/>
          </a:xfrm>
          <a:prstGeom prst="rect">
            <a:avLst/>
          </a:prstGeom>
          <a:noFill/>
        </p:spPr>
        <p:txBody>
          <a:bodyPr wrap="square">
            <a:spAutoFit/>
          </a:bodyPr>
          <a:lstStyle/>
          <a:p>
            <a:pPr algn="l"/>
            <a:r>
              <a:rPr sz="1100" b="0" i="0">
                <a:solidFill>
                  <a:srgbClr val="1A233A"/>
                </a:solidFill>
                <a:latin typeface="Times New Roman"/>
              </a:rPr>
              <a:t>YOLO11s</a:t>
            </a:r>
          </a:p>
        </p:txBody>
      </p:sp>
      <p:sp>
        <p:nvSpPr>
          <p:cNvPr id="70" name="Rectangle 69"/>
          <p:cNvSpPr/>
          <p:nvPr/>
        </p:nvSpPr>
        <p:spPr>
          <a:xfrm>
            <a:off x="8159412" y="1875840"/>
            <a:ext cx="87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1" name="TextBox 70"/>
          <p:cNvSpPr txBox="1"/>
          <p:nvPr/>
        </p:nvSpPr>
        <p:spPr>
          <a:xfrm>
            <a:off x="8179412" y="1945840"/>
            <a:ext cx="830000" cy="261610"/>
          </a:xfrm>
          <a:prstGeom prst="rect">
            <a:avLst/>
          </a:prstGeom>
          <a:noFill/>
        </p:spPr>
        <p:txBody>
          <a:bodyPr wrap="square">
            <a:spAutoFit/>
          </a:bodyPr>
          <a:lstStyle/>
          <a:p>
            <a:pPr algn="ctr"/>
            <a:r>
              <a:rPr sz="1100" b="0" i="0">
                <a:solidFill>
                  <a:srgbClr val="1A233A"/>
                </a:solidFill>
                <a:latin typeface="Times New Roman"/>
              </a:rPr>
              <a:t>0.317</a:t>
            </a:r>
          </a:p>
        </p:txBody>
      </p:sp>
      <p:sp>
        <p:nvSpPr>
          <p:cNvPr id="72" name="Rectangle 71"/>
          <p:cNvSpPr/>
          <p:nvPr/>
        </p:nvSpPr>
        <p:spPr>
          <a:xfrm>
            <a:off x="9029412" y="1875840"/>
            <a:ext cx="101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3" name="TextBox 72"/>
          <p:cNvSpPr txBox="1"/>
          <p:nvPr/>
        </p:nvSpPr>
        <p:spPr>
          <a:xfrm>
            <a:off x="9049412" y="1945840"/>
            <a:ext cx="970000" cy="261610"/>
          </a:xfrm>
          <a:prstGeom prst="rect">
            <a:avLst/>
          </a:prstGeom>
          <a:noFill/>
        </p:spPr>
        <p:txBody>
          <a:bodyPr wrap="square">
            <a:spAutoFit/>
          </a:bodyPr>
          <a:lstStyle/>
          <a:p>
            <a:pPr algn="ctr"/>
            <a:r>
              <a:rPr sz="1100" b="0" i="0">
                <a:solidFill>
                  <a:srgbClr val="1A233A"/>
                </a:solidFill>
                <a:latin typeface="Times New Roman"/>
              </a:rPr>
              <a:t>0.148</a:t>
            </a:r>
          </a:p>
        </p:txBody>
      </p:sp>
      <p:sp>
        <p:nvSpPr>
          <p:cNvPr id="74" name="Rectangle 73"/>
          <p:cNvSpPr/>
          <p:nvPr/>
        </p:nvSpPr>
        <p:spPr>
          <a:xfrm>
            <a:off x="10039412" y="1875840"/>
            <a:ext cx="85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5" name="TextBox 74"/>
          <p:cNvSpPr txBox="1"/>
          <p:nvPr/>
        </p:nvSpPr>
        <p:spPr>
          <a:xfrm>
            <a:off x="10059412" y="1945840"/>
            <a:ext cx="810000" cy="261610"/>
          </a:xfrm>
          <a:prstGeom prst="rect">
            <a:avLst/>
          </a:prstGeom>
          <a:noFill/>
        </p:spPr>
        <p:txBody>
          <a:bodyPr wrap="square">
            <a:spAutoFit/>
          </a:bodyPr>
          <a:lstStyle/>
          <a:p>
            <a:pPr algn="ctr"/>
            <a:r>
              <a:rPr sz="1100" b="0" i="0">
                <a:solidFill>
                  <a:srgbClr val="1A233A"/>
                </a:solidFill>
                <a:latin typeface="Times New Roman"/>
              </a:rPr>
              <a:t>0.541</a:t>
            </a:r>
          </a:p>
        </p:txBody>
      </p:sp>
      <p:sp>
        <p:nvSpPr>
          <p:cNvPr id="76" name="Rectangle 75"/>
          <p:cNvSpPr/>
          <p:nvPr/>
        </p:nvSpPr>
        <p:spPr>
          <a:xfrm>
            <a:off x="10889412" y="1875840"/>
            <a:ext cx="899412"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7" name="TextBox 76"/>
          <p:cNvSpPr txBox="1"/>
          <p:nvPr/>
        </p:nvSpPr>
        <p:spPr>
          <a:xfrm>
            <a:off x="10909412" y="1945840"/>
            <a:ext cx="859412" cy="261610"/>
          </a:xfrm>
          <a:prstGeom prst="rect">
            <a:avLst/>
          </a:prstGeom>
          <a:noFill/>
        </p:spPr>
        <p:txBody>
          <a:bodyPr wrap="square">
            <a:spAutoFit/>
          </a:bodyPr>
          <a:lstStyle/>
          <a:p>
            <a:pPr algn="ctr"/>
            <a:r>
              <a:rPr sz="1100" b="0" i="0">
                <a:solidFill>
                  <a:srgbClr val="1A233A"/>
                </a:solidFill>
                <a:latin typeface="Times New Roman"/>
              </a:rPr>
              <a:t>0.324</a:t>
            </a:r>
          </a:p>
        </p:txBody>
      </p:sp>
      <p:sp>
        <p:nvSpPr>
          <p:cNvPr id="78" name="Rectangle 77"/>
          <p:cNvSpPr/>
          <p:nvPr/>
        </p:nvSpPr>
        <p:spPr>
          <a:xfrm>
            <a:off x="6159412" y="2305840"/>
            <a:ext cx="200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79" name="TextBox 78"/>
          <p:cNvSpPr txBox="1"/>
          <p:nvPr/>
        </p:nvSpPr>
        <p:spPr>
          <a:xfrm>
            <a:off x="6179412" y="2375840"/>
            <a:ext cx="1960000" cy="261610"/>
          </a:xfrm>
          <a:prstGeom prst="rect">
            <a:avLst/>
          </a:prstGeom>
          <a:noFill/>
        </p:spPr>
        <p:txBody>
          <a:bodyPr wrap="square">
            <a:spAutoFit/>
          </a:bodyPr>
          <a:lstStyle/>
          <a:p>
            <a:pPr algn="l"/>
            <a:r>
              <a:rPr sz="1100" b="0" i="0">
                <a:solidFill>
                  <a:srgbClr val="1A233A"/>
                </a:solidFill>
                <a:latin typeface="Times New Roman"/>
              </a:rPr>
              <a:t>YOLO11m</a:t>
            </a:r>
          </a:p>
        </p:txBody>
      </p:sp>
      <p:sp>
        <p:nvSpPr>
          <p:cNvPr id="80" name="Rectangle 79"/>
          <p:cNvSpPr/>
          <p:nvPr/>
        </p:nvSpPr>
        <p:spPr>
          <a:xfrm>
            <a:off x="8159412" y="2305840"/>
            <a:ext cx="87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1" name="TextBox 80"/>
          <p:cNvSpPr txBox="1"/>
          <p:nvPr/>
        </p:nvSpPr>
        <p:spPr>
          <a:xfrm>
            <a:off x="8179412" y="2375840"/>
            <a:ext cx="830000" cy="261610"/>
          </a:xfrm>
          <a:prstGeom prst="rect">
            <a:avLst/>
          </a:prstGeom>
          <a:noFill/>
        </p:spPr>
        <p:txBody>
          <a:bodyPr wrap="square">
            <a:spAutoFit/>
          </a:bodyPr>
          <a:lstStyle/>
          <a:p>
            <a:pPr algn="ctr"/>
            <a:r>
              <a:rPr sz="1100" b="0" i="0">
                <a:solidFill>
                  <a:srgbClr val="1A233A"/>
                </a:solidFill>
                <a:latin typeface="Times New Roman"/>
              </a:rPr>
              <a:t>0.354</a:t>
            </a:r>
          </a:p>
        </p:txBody>
      </p:sp>
      <p:sp>
        <p:nvSpPr>
          <p:cNvPr id="82" name="Rectangle 81"/>
          <p:cNvSpPr/>
          <p:nvPr/>
        </p:nvSpPr>
        <p:spPr>
          <a:xfrm>
            <a:off x="9029412" y="2305840"/>
            <a:ext cx="101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3" name="TextBox 82"/>
          <p:cNvSpPr txBox="1"/>
          <p:nvPr/>
        </p:nvSpPr>
        <p:spPr>
          <a:xfrm>
            <a:off x="9049412" y="2375840"/>
            <a:ext cx="970000" cy="261610"/>
          </a:xfrm>
          <a:prstGeom prst="rect">
            <a:avLst/>
          </a:prstGeom>
          <a:noFill/>
        </p:spPr>
        <p:txBody>
          <a:bodyPr wrap="square">
            <a:spAutoFit/>
          </a:bodyPr>
          <a:lstStyle/>
          <a:p>
            <a:pPr algn="ctr"/>
            <a:r>
              <a:rPr sz="1100" b="0" i="0">
                <a:solidFill>
                  <a:srgbClr val="1A233A"/>
                </a:solidFill>
                <a:latin typeface="Times New Roman"/>
              </a:rPr>
              <a:t>0.172</a:t>
            </a:r>
          </a:p>
        </p:txBody>
      </p:sp>
      <p:sp>
        <p:nvSpPr>
          <p:cNvPr id="84" name="Rectangle 83"/>
          <p:cNvSpPr/>
          <p:nvPr/>
        </p:nvSpPr>
        <p:spPr>
          <a:xfrm>
            <a:off x="10039412" y="2305840"/>
            <a:ext cx="85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5" name="TextBox 84"/>
          <p:cNvSpPr txBox="1"/>
          <p:nvPr/>
        </p:nvSpPr>
        <p:spPr>
          <a:xfrm>
            <a:off x="10059412" y="2375840"/>
            <a:ext cx="810000" cy="261610"/>
          </a:xfrm>
          <a:prstGeom prst="rect">
            <a:avLst/>
          </a:prstGeom>
          <a:noFill/>
        </p:spPr>
        <p:txBody>
          <a:bodyPr wrap="square">
            <a:spAutoFit/>
          </a:bodyPr>
          <a:lstStyle/>
          <a:p>
            <a:pPr algn="ctr"/>
            <a:r>
              <a:rPr sz="1100" b="0" i="0">
                <a:solidFill>
                  <a:srgbClr val="1A233A"/>
                </a:solidFill>
                <a:latin typeface="Times New Roman"/>
              </a:rPr>
              <a:t>0.555</a:t>
            </a:r>
          </a:p>
        </p:txBody>
      </p:sp>
      <p:sp>
        <p:nvSpPr>
          <p:cNvPr id="86" name="Rectangle 85"/>
          <p:cNvSpPr/>
          <p:nvPr/>
        </p:nvSpPr>
        <p:spPr>
          <a:xfrm>
            <a:off x="10889412" y="2305840"/>
            <a:ext cx="899412"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7" name="TextBox 86"/>
          <p:cNvSpPr txBox="1"/>
          <p:nvPr/>
        </p:nvSpPr>
        <p:spPr>
          <a:xfrm>
            <a:off x="10909412" y="2375840"/>
            <a:ext cx="859412" cy="261610"/>
          </a:xfrm>
          <a:prstGeom prst="rect">
            <a:avLst/>
          </a:prstGeom>
          <a:noFill/>
        </p:spPr>
        <p:txBody>
          <a:bodyPr wrap="square">
            <a:spAutoFit/>
          </a:bodyPr>
          <a:lstStyle/>
          <a:p>
            <a:pPr algn="ctr"/>
            <a:r>
              <a:rPr sz="1100" b="0" i="0">
                <a:solidFill>
                  <a:srgbClr val="1A233A"/>
                </a:solidFill>
                <a:latin typeface="Times New Roman"/>
              </a:rPr>
              <a:t>0.366</a:t>
            </a:r>
          </a:p>
        </p:txBody>
      </p:sp>
      <p:sp>
        <p:nvSpPr>
          <p:cNvPr id="88" name="Rectangle 87"/>
          <p:cNvSpPr/>
          <p:nvPr/>
        </p:nvSpPr>
        <p:spPr>
          <a:xfrm>
            <a:off x="6159412" y="2735840"/>
            <a:ext cx="200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89" name="TextBox 88"/>
          <p:cNvSpPr txBox="1"/>
          <p:nvPr/>
        </p:nvSpPr>
        <p:spPr>
          <a:xfrm>
            <a:off x="6179412" y="2805840"/>
            <a:ext cx="1960000" cy="261610"/>
          </a:xfrm>
          <a:prstGeom prst="rect">
            <a:avLst/>
          </a:prstGeom>
          <a:noFill/>
        </p:spPr>
        <p:txBody>
          <a:bodyPr wrap="square">
            <a:spAutoFit/>
          </a:bodyPr>
          <a:lstStyle/>
          <a:p>
            <a:pPr algn="l"/>
            <a:r>
              <a:rPr sz="1100" b="0" i="0">
                <a:solidFill>
                  <a:srgbClr val="1A233A"/>
                </a:solidFill>
                <a:latin typeface="Times New Roman"/>
              </a:rPr>
              <a:t>YOLO11l</a:t>
            </a:r>
          </a:p>
        </p:txBody>
      </p:sp>
      <p:sp>
        <p:nvSpPr>
          <p:cNvPr id="90" name="Rectangle 89"/>
          <p:cNvSpPr/>
          <p:nvPr/>
        </p:nvSpPr>
        <p:spPr>
          <a:xfrm>
            <a:off x="8159412" y="2735840"/>
            <a:ext cx="87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1" name="TextBox 90"/>
          <p:cNvSpPr txBox="1"/>
          <p:nvPr/>
        </p:nvSpPr>
        <p:spPr>
          <a:xfrm>
            <a:off x="8179412" y="2805840"/>
            <a:ext cx="830000" cy="261610"/>
          </a:xfrm>
          <a:prstGeom prst="rect">
            <a:avLst/>
          </a:prstGeom>
          <a:noFill/>
        </p:spPr>
        <p:txBody>
          <a:bodyPr wrap="square">
            <a:spAutoFit/>
          </a:bodyPr>
          <a:lstStyle/>
          <a:p>
            <a:pPr algn="ctr"/>
            <a:r>
              <a:rPr sz="1100" b="1" i="0">
                <a:solidFill>
                  <a:srgbClr val="1A7A3C"/>
                </a:solidFill>
                <a:latin typeface="Times New Roman"/>
              </a:rPr>
              <a:t>0.368</a:t>
            </a:r>
          </a:p>
        </p:txBody>
      </p:sp>
      <p:sp>
        <p:nvSpPr>
          <p:cNvPr id="92" name="Rectangle 91"/>
          <p:cNvSpPr/>
          <p:nvPr/>
        </p:nvSpPr>
        <p:spPr>
          <a:xfrm>
            <a:off x="9029412" y="2735840"/>
            <a:ext cx="101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3" name="TextBox 92"/>
          <p:cNvSpPr txBox="1"/>
          <p:nvPr/>
        </p:nvSpPr>
        <p:spPr>
          <a:xfrm>
            <a:off x="9049412" y="2805840"/>
            <a:ext cx="970000" cy="261610"/>
          </a:xfrm>
          <a:prstGeom prst="rect">
            <a:avLst/>
          </a:prstGeom>
          <a:noFill/>
        </p:spPr>
        <p:txBody>
          <a:bodyPr wrap="square">
            <a:spAutoFit/>
          </a:bodyPr>
          <a:lstStyle/>
          <a:p>
            <a:pPr algn="ctr"/>
            <a:r>
              <a:rPr sz="1100" b="1" i="0">
                <a:solidFill>
                  <a:srgbClr val="1A7A3C"/>
                </a:solidFill>
                <a:latin typeface="Times New Roman"/>
              </a:rPr>
              <a:t>0.180</a:t>
            </a:r>
          </a:p>
        </p:txBody>
      </p:sp>
      <p:sp>
        <p:nvSpPr>
          <p:cNvPr id="94" name="Rectangle 93"/>
          <p:cNvSpPr/>
          <p:nvPr/>
        </p:nvSpPr>
        <p:spPr>
          <a:xfrm>
            <a:off x="10039412" y="2735840"/>
            <a:ext cx="850000"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5" name="TextBox 94"/>
          <p:cNvSpPr txBox="1"/>
          <p:nvPr/>
        </p:nvSpPr>
        <p:spPr>
          <a:xfrm>
            <a:off x="10059412" y="2805840"/>
            <a:ext cx="810000" cy="261610"/>
          </a:xfrm>
          <a:prstGeom prst="rect">
            <a:avLst/>
          </a:prstGeom>
          <a:noFill/>
        </p:spPr>
        <p:txBody>
          <a:bodyPr wrap="square">
            <a:spAutoFit/>
          </a:bodyPr>
          <a:lstStyle/>
          <a:p>
            <a:pPr algn="ctr"/>
            <a:r>
              <a:rPr sz="1100" b="1" i="0">
                <a:solidFill>
                  <a:srgbClr val="1A7A3C"/>
                </a:solidFill>
                <a:latin typeface="Times New Roman"/>
              </a:rPr>
              <a:t>0.577</a:t>
            </a:r>
          </a:p>
        </p:txBody>
      </p:sp>
      <p:sp>
        <p:nvSpPr>
          <p:cNvPr id="96" name="Rectangle 95"/>
          <p:cNvSpPr/>
          <p:nvPr/>
        </p:nvSpPr>
        <p:spPr>
          <a:xfrm>
            <a:off x="10889412" y="2735840"/>
            <a:ext cx="899412" cy="43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7" name="TextBox 96"/>
          <p:cNvSpPr txBox="1"/>
          <p:nvPr/>
        </p:nvSpPr>
        <p:spPr>
          <a:xfrm>
            <a:off x="10909412" y="2805840"/>
            <a:ext cx="859412" cy="261610"/>
          </a:xfrm>
          <a:prstGeom prst="rect">
            <a:avLst/>
          </a:prstGeom>
          <a:noFill/>
        </p:spPr>
        <p:txBody>
          <a:bodyPr wrap="square">
            <a:spAutoFit/>
          </a:bodyPr>
          <a:lstStyle/>
          <a:p>
            <a:pPr algn="ctr"/>
            <a:r>
              <a:rPr sz="1100" b="1" i="0">
                <a:solidFill>
                  <a:srgbClr val="1A7A3C"/>
                </a:solidFill>
                <a:latin typeface="Times New Roman"/>
              </a:rPr>
              <a:t>0.375</a:t>
            </a:r>
          </a:p>
        </p:txBody>
      </p:sp>
      <p:sp>
        <p:nvSpPr>
          <p:cNvPr id="98" name="Rectangle 97"/>
          <p:cNvSpPr/>
          <p:nvPr/>
        </p:nvSpPr>
        <p:spPr>
          <a:xfrm>
            <a:off x="6159412" y="3165840"/>
            <a:ext cx="200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99" name="TextBox 98"/>
          <p:cNvSpPr txBox="1"/>
          <p:nvPr/>
        </p:nvSpPr>
        <p:spPr>
          <a:xfrm>
            <a:off x="6179412" y="3235840"/>
            <a:ext cx="1960000" cy="261610"/>
          </a:xfrm>
          <a:prstGeom prst="rect">
            <a:avLst/>
          </a:prstGeom>
          <a:noFill/>
        </p:spPr>
        <p:txBody>
          <a:bodyPr wrap="square">
            <a:spAutoFit/>
          </a:bodyPr>
          <a:lstStyle/>
          <a:p>
            <a:pPr algn="l"/>
            <a:r>
              <a:rPr sz="1100" b="0" i="0">
                <a:solidFill>
                  <a:srgbClr val="1A233A"/>
                </a:solidFill>
                <a:latin typeface="Times New Roman"/>
              </a:rPr>
              <a:t>YOLO11x</a:t>
            </a:r>
          </a:p>
        </p:txBody>
      </p:sp>
      <p:sp>
        <p:nvSpPr>
          <p:cNvPr id="100" name="Rectangle 99"/>
          <p:cNvSpPr/>
          <p:nvPr/>
        </p:nvSpPr>
        <p:spPr>
          <a:xfrm>
            <a:off x="8159412" y="3165840"/>
            <a:ext cx="87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1" name="TextBox 100"/>
          <p:cNvSpPr txBox="1"/>
          <p:nvPr/>
        </p:nvSpPr>
        <p:spPr>
          <a:xfrm>
            <a:off x="8179412" y="3235840"/>
            <a:ext cx="830000" cy="261610"/>
          </a:xfrm>
          <a:prstGeom prst="rect">
            <a:avLst/>
          </a:prstGeom>
          <a:noFill/>
        </p:spPr>
        <p:txBody>
          <a:bodyPr wrap="square">
            <a:spAutoFit/>
          </a:bodyPr>
          <a:lstStyle/>
          <a:p>
            <a:pPr algn="ctr"/>
            <a:r>
              <a:rPr sz="1100" b="0" i="0">
                <a:solidFill>
                  <a:srgbClr val="1A233A"/>
                </a:solidFill>
                <a:latin typeface="Times New Roman"/>
              </a:rPr>
              <a:t>0.255</a:t>
            </a:r>
          </a:p>
        </p:txBody>
      </p:sp>
      <p:sp>
        <p:nvSpPr>
          <p:cNvPr id="102" name="Rectangle 101"/>
          <p:cNvSpPr/>
          <p:nvPr/>
        </p:nvSpPr>
        <p:spPr>
          <a:xfrm>
            <a:off x="9029412" y="3165840"/>
            <a:ext cx="101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3" name="TextBox 102"/>
          <p:cNvSpPr txBox="1"/>
          <p:nvPr/>
        </p:nvSpPr>
        <p:spPr>
          <a:xfrm>
            <a:off x="9049412" y="3235840"/>
            <a:ext cx="970000" cy="261610"/>
          </a:xfrm>
          <a:prstGeom prst="rect">
            <a:avLst/>
          </a:prstGeom>
          <a:noFill/>
        </p:spPr>
        <p:txBody>
          <a:bodyPr wrap="square">
            <a:spAutoFit/>
          </a:bodyPr>
          <a:lstStyle/>
          <a:p>
            <a:pPr algn="ctr"/>
            <a:r>
              <a:rPr sz="1100" b="0" i="0">
                <a:solidFill>
                  <a:srgbClr val="1A233A"/>
                </a:solidFill>
                <a:latin typeface="Times New Roman"/>
              </a:rPr>
              <a:t>0.140</a:t>
            </a:r>
          </a:p>
        </p:txBody>
      </p:sp>
      <p:sp>
        <p:nvSpPr>
          <p:cNvPr id="104" name="Rectangle 103"/>
          <p:cNvSpPr/>
          <p:nvPr/>
        </p:nvSpPr>
        <p:spPr>
          <a:xfrm>
            <a:off x="10039412" y="3165840"/>
            <a:ext cx="850000"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5" name="TextBox 104"/>
          <p:cNvSpPr txBox="1"/>
          <p:nvPr/>
        </p:nvSpPr>
        <p:spPr>
          <a:xfrm>
            <a:off x="10059412" y="3235840"/>
            <a:ext cx="810000" cy="261610"/>
          </a:xfrm>
          <a:prstGeom prst="rect">
            <a:avLst/>
          </a:prstGeom>
          <a:noFill/>
        </p:spPr>
        <p:txBody>
          <a:bodyPr wrap="square">
            <a:spAutoFit/>
          </a:bodyPr>
          <a:lstStyle/>
          <a:p>
            <a:pPr algn="ctr"/>
            <a:r>
              <a:rPr sz="1100" b="0" i="0">
                <a:solidFill>
                  <a:srgbClr val="1A233A"/>
                </a:solidFill>
                <a:latin typeface="Times New Roman"/>
              </a:rPr>
              <a:t>0.486</a:t>
            </a:r>
          </a:p>
        </p:txBody>
      </p:sp>
      <p:sp>
        <p:nvSpPr>
          <p:cNvPr id="106" name="Rectangle 105"/>
          <p:cNvSpPr/>
          <p:nvPr/>
        </p:nvSpPr>
        <p:spPr>
          <a:xfrm>
            <a:off x="10889412" y="3165840"/>
            <a:ext cx="899412" cy="43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107" name="TextBox 106"/>
          <p:cNvSpPr txBox="1"/>
          <p:nvPr/>
        </p:nvSpPr>
        <p:spPr>
          <a:xfrm>
            <a:off x="10909412" y="3235840"/>
            <a:ext cx="859412" cy="261610"/>
          </a:xfrm>
          <a:prstGeom prst="rect">
            <a:avLst/>
          </a:prstGeom>
          <a:noFill/>
        </p:spPr>
        <p:txBody>
          <a:bodyPr wrap="square">
            <a:spAutoFit/>
          </a:bodyPr>
          <a:lstStyle/>
          <a:p>
            <a:pPr algn="ctr"/>
            <a:r>
              <a:rPr sz="1100" b="0" i="0">
                <a:solidFill>
                  <a:srgbClr val="1A233A"/>
                </a:solidFill>
                <a:latin typeface="Times New Roman"/>
              </a:rPr>
              <a:t>0.276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1 — OSNet x0.25 (Baseline)</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Omni-Scale Network (OSNet) — width multiplier x0.25
Unified aggregation gates fuse features at multiple scales
within a single residual block. Depthwise separable convolutions
keep the model extremely lightweight.</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MSMT17 — 4 101 identities, 15 cameras, outdoor + indoor</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Smallest model: 2 MB, ~1 ms/image on GPU
• Runs comfortably on CPU
• Good baseline; robust to moderate occlusion
• Pre-installed in this environment</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x0.25 width → limited representational capacity
• Weaker at fine-grained appearance matching
• No attentive normalization (fixed feature scaling)</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OSNet was designed specifically for person Re-ID by learning omni-scale feature representations — from fine-grained to coarse-grained details — within a single unified block.
The x0.25 variant uses only 25% of the standard channel width, making it the fastest model in this comparison. It is the default ReID model shipped with BoxMOT.
Weight file: osnet_x0_25_msmt17.pt
Input size: 256 × 128 px
Parameters: ~0.22 M
Published: Zhou et al., ICCV 2019
Benchmark (MSMT17-trained, evaluated on Market-1501):
  Rank-1: 73.9%   mAP: 43.2%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2 — OSNet AIN x1.0 (Beta=1.0)</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OSNet with Attentive Instance Normalization (AIN)
Full x1.0 width — 4× more channels than the baseline.
AIN introduces learnable scale (γ) and shift (β) per-channel
so the model adapts normalization to each input instance.</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MSMT17 — 4 101 identities, 15 cameras, outdoor + indoor</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Much stronger feature discrimination than x0.25
• AIN handles varying illumination and viewpoint well
• Still relatively compact (~39 MB)
• Best OSNet variant for multi-camera scenarios</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~5× slower than x0.25 baseline
• Slightly heavier memory footprint
• Marginal gain over x0.25 on very short occlusions</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1A50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AIN extends OSNet by replacing batch normalisation with an attentive variant where each channel learns its own instance-specific scale (β) and shift, making features invariant to camera-specific photometric distortions without training on camera labels.
"Beta=1.0" refers to the full-width (x1.0) variant of this model — the β parameter in AIN is learned, not fixed.
Weight file: osnet_ain_x1_0_msmt17.pt
Input size: 256 × 128 px
Parameters: ~2.2 M
Published: Zhou et al., ECCV 2020
Benchmark (MSMT17-trained, evaluated on Market-1501):
  Rank-1: 92.1%   mAP: 79.1%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3 — LightMBN (LMBN)</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0E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Light Multiple-Branch Network (LMBN)
ResNet-50 backbone + multiple specialised branches:
  • Global branch: holistic appearance
  • Part branch: local region features
  • Channel attention via squeeze-and-excitation</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0E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DukeMTMC-reID — 702 identities, 8 cameras, outdoor campus</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0E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Part-based features handle partial occlusion well
• Attention gates focus on discriminative body regions
• Compact despite multi-branch design (~50 MB)
• Strong on cross-camera matching</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0E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Larger input (384 × 128 px) — slightly slower preprocessing
• Trained on DukeMTMC only (no MSMT17 variant in BoxMOT)
• ResNet-50 backbone heavier than OSNet</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0E6A6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LMBN is built around the insight that a single global feature vector is insufficient when targets are partially occluded. The multiple branches independently learn global and local cues, which are then fused at inference.
The "Light" prefix refers to a reduced-width variant of the original MBN that achieves comparable accuracy with fewer parameters.
Weight file: lmbn_n_duke.pt
Input size: 384 × 128 px
Parameters: ~31 M
Published: Herzog et al., 2021
Benchmark (DukeMTMC-trained, evaluated on Market-1501):
  Rank-1: 92.3%   mAP: 80.1%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4 — HACNN</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5A1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Harmonious Attention CNN (HACNN)
Jointly learns soft and hard attention:
  • Soft attention: channel + spatial weighting
  • Hard attention: learns to crop discriminative patches
Multi-scale feature aggregation across 3 stages.</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5A1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MSMT17 — 4 101 identities, 15 cameras</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5A1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Dual attention (soft + hard) captures subtle cues
• Multi-scale representation robust to scale changes
• Very small model: ~4 MB
• Fast inference at 160 × 64 px input</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5A1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Smaller input resolution (160 × 64 px) — less fine detail
• Hard attention crops may mis-fire on heavily occluded targets
• Older architecture; surpassed by transformer-based models</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5A1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HACNN introduces a harmonious attention mechanism that combines channel-wise, spatial, and hard region-selection attention in a unified framework. This allows the model to focus on informative body parts while suppressing background and clutter — useful in overhead surveillance where pose variation is limited but background is complex.
Weight file: hacnn_msmt17.pt
Input size: 160 × 64 px
Parameters: ~4.5 M
Published: Li et al., CVPR 2018
Benchmark (MSMT17-trained, evaluated on Market-1501):
  Rank-1: 90.9%   mAP: 75.6%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5 — MLFN</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7A4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Multi-Level Factorisation Net (MLFN)
Factorises the appearance of a person into:
  • Identity factors (who the person is)
  • Latent factors (pose, viewpoint, illumination)
Multiple latent factor modules interleaved in a ResNet.</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7A4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MSMT17 — 4 101 identities, 15 cameras</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7A4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Disentangles identity from pose/lighting factors
• More robust to viewpoint change than single-factor models
• Moderate size (~51 MB)
• Interpretable factorisation architecture</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7A4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Complex training objective; harder to fine-tune
• Factorisation assumption may not hold at overhead angle
• Surpassed by attention and transformer-based models</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7A4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MLFN is motivated by the observation that person appearance varies with camera viewpoint and lighting, but the underlying identity should be invariant. The network explicitly models these confounding "latent factors" and separates them from identity discriminative features.
For overhead surveillance, the pose variation is smaller than in side-view datasets, so the latent factor separation may provide less benefit compared to attention-based approaches.
Weight file: mlfn_msmt17.pt
Input size: 256 × 128 px
Parameters: ~32 M
Published: Chang et al., CVPR 2018
Benchmark (MSMT17-trained, evaluated on Market-1501):
  Rank-1: 90.0%   mAP: 74.3%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6 — CLIP-ReID (ViT backbone)</a:t>
            </a:r>
          </a:p>
        </p:txBody>
      </p:sp>
      <p:sp>
        <p:nvSpPr>
          <p:cNvPr id="4" name="Rectangle 3"/>
          <p:cNvSpPr/>
          <p:nvPr/>
        </p:nvSpPr>
        <p:spPr>
          <a:xfrm>
            <a:off x="400000" y="116584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00000" y="1165840"/>
            <a:ext cx="4783306" cy="240000"/>
          </a:xfrm>
          <a:prstGeom prst="rect">
            <a:avLst/>
          </a:prstGeom>
          <a:solidFill>
            <a:srgbClr val="A3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20000" y="1205840"/>
            <a:ext cx="4743306" cy="190000"/>
          </a:xfrm>
          <a:prstGeom prst="rect">
            <a:avLst/>
          </a:prstGeom>
          <a:noFill/>
        </p:spPr>
        <p:txBody>
          <a:bodyPr wrap="square">
            <a:spAutoFit/>
          </a:bodyPr>
          <a:lstStyle/>
          <a:p>
            <a:pPr algn="l"/>
            <a:r>
              <a:rPr sz="900" b="1" i="0">
                <a:solidFill>
                  <a:srgbClr val="FFFFFF"/>
                </a:solidFill>
                <a:latin typeface="Times New Roman"/>
              </a:rPr>
              <a:t>ARCHITECTURE</a:t>
            </a:r>
          </a:p>
        </p:txBody>
      </p:sp>
      <p:sp>
        <p:nvSpPr>
          <p:cNvPr id="7" name="TextBox 6"/>
          <p:cNvSpPr txBox="1"/>
          <p:nvPr/>
        </p:nvSpPr>
        <p:spPr>
          <a:xfrm>
            <a:off x="420000" y="1425840"/>
            <a:ext cx="4743306" cy="1083040"/>
          </a:xfrm>
          <a:prstGeom prst="rect">
            <a:avLst/>
          </a:prstGeom>
          <a:noFill/>
        </p:spPr>
        <p:txBody>
          <a:bodyPr wrap="square">
            <a:spAutoFit/>
          </a:bodyPr>
          <a:lstStyle/>
          <a:p>
            <a:pPr algn="l"/>
            <a:r>
              <a:rPr sz="950" b="0" i="0">
                <a:solidFill>
                  <a:srgbClr val="1A233A"/>
                </a:solidFill>
                <a:latin typeface="Times New Roman"/>
              </a:rPr>
              <a:t>CLIP-ReID — Vision-Language Pre-training for Re-ID
ViT-B/16 image encoder from CLIP (OpenAI)
fine-tuned on Re-ID via ID-loss + text-prompt contrastive loss.
Text prompts ("a photo of a [class] person") act as soft
class anchors to regularise the visual embedding space.</a:t>
            </a:r>
          </a:p>
        </p:txBody>
      </p:sp>
      <p:sp>
        <p:nvSpPr>
          <p:cNvPr id="8" name="Rectangle 7"/>
          <p:cNvSpPr/>
          <p:nvPr/>
        </p:nvSpPr>
        <p:spPr>
          <a:xfrm>
            <a:off x="400000" y="256888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00000" y="2568880"/>
            <a:ext cx="4783306" cy="240000"/>
          </a:xfrm>
          <a:prstGeom prst="rect">
            <a:avLst/>
          </a:prstGeom>
          <a:solidFill>
            <a:srgbClr val="A3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000" y="2608880"/>
            <a:ext cx="4743306" cy="190000"/>
          </a:xfrm>
          <a:prstGeom prst="rect">
            <a:avLst/>
          </a:prstGeom>
          <a:noFill/>
        </p:spPr>
        <p:txBody>
          <a:bodyPr wrap="square">
            <a:spAutoFit/>
          </a:bodyPr>
          <a:lstStyle/>
          <a:p>
            <a:pPr algn="l"/>
            <a:r>
              <a:rPr sz="900" b="1" i="0">
                <a:solidFill>
                  <a:srgbClr val="FFFFFF"/>
                </a:solidFill>
                <a:latin typeface="Times New Roman"/>
              </a:rPr>
              <a:t>TRAINING DATA</a:t>
            </a:r>
          </a:p>
        </p:txBody>
      </p:sp>
      <p:sp>
        <p:nvSpPr>
          <p:cNvPr id="11" name="TextBox 10"/>
          <p:cNvSpPr txBox="1"/>
          <p:nvPr/>
        </p:nvSpPr>
        <p:spPr>
          <a:xfrm>
            <a:off x="420000" y="2828880"/>
            <a:ext cx="4743306" cy="1083040"/>
          </a:xfrm>
          <a:prstGeom prst="rect">
            <a:avLst/>
          </a:prstGeom>
          <a:noFill/>
        </p:spPr>
        <p:txBody>
          <a:bodyPr wrap="square">
            <a:spAutoFit/>
          </a:bodyPr>
          <a:lstStyle/>
          <a:p>
            <a:pPr algn="l"/>
            <a:r>
              <a:rPr sz="950" b="0" i="0">
                <a:solidFill>
                  <a:srgbClr val="1A233A"/>
                </a:solidFill>
                <a:latin typeface="Times New Roman"/>
              </a:rPr>
              <a:t>Market-1501 — 751 identities, 6 cameras, outdoor market</a:t>
            </a:r>
          </a:p>
        </p:txBody>
      </p:sp>
      <p:sp>
        <p:nvSpPr>
          <p:cNvPr id="12" name="Rectangle 11"/>
          <p:cNvSpPr/>
          <p:nvPr/>
        </p:nvSpPr>
        <p:spPr>
          <a:xfrm>
            <a:off x="400000" y="397192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0000" y="3971920"/>
            <a:ext cx="4783306" cy="240000"/>
          </a:xfrm>
          <a:prstGeom prst="rect">
            <a:avLst/>
          </a:prstGeom>
          <a:solidFill>
            <a:srgbClr val="A3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0000" y="4011920"/>
            <a:ext cx="4743306" cy="190000"/>
          </a:xfrm>
          <a:prstGeom prst="rect">
            <a:avLst/>
          </a:prstGeom>
          <a:noFill/>
        </p:spPr>
        <p:txBody>
          <a:bodyPr wrap="square">
            <a:spAutoFit/>
          </a:bodyPr>
          <a:lstStyle/>
          <a:p>
            <a:pPr algn="l"/>
            <a:r>
              <a:rPr sz="900" b="1" i="0">
                <a:solidFill>
                  <a:srgbClr val="FFFFFF"/>
                </a:solidFill>
                <a:latin typeface="Times New Roman"/>
              </a:rPr>
              <a:t>STRENGTHS</a:t>
            </a:r>
          </a:p>
        </p:txBody>
      </p:sp>
      <p:sp>
        <p:nvSpPr>
          <p:cNvPr id="15" name="TextBox 14"/>
          <p:cNvSpPr txBox="1"/>
          <p:nvPr/>
        </p:nvSpPr>
        <p:spPr>
          <a:xfrm>
            <a:off x="420000" y="4231920"/>
            <a:ext cx="4743306" cy="1083040"/>
          </a:xfrm>
          <a:prstGeom prst="rect">
            <a:avLst/>
          </a:prstGeom>
          <a:noFill/>
        </p:spPr>
        <p:txBody>
          <a:bodyPr wrap="square">
            <a:spAutoFit/>
          </a:bodyPr>
          <a:lstStyle/>
          <a:p>
            <a:pPr algn="l"/>
            <a:r>
              <a:rPr sz="950" b="0" i="0">
                <a:solidFill>
                  <a:srgbClr val="1A233A"/>
                </a:solidFill>
                <a:latin typeface="Times New Roman"/>
              </a:rPr>
              <a:t>• Strongest feature discriminability in this comparison
• ViT global attention captures full-body context
• Text-image alignment improves cross-camera robustness
• Leverages 400 M image-text pairs from CLIP pre-training</a:t>
            </a:r>
          </a:p>
        </p:txBody>
      </p:sp>
      <p:sp>
        <p:nvSpPr>
          <p:cNvPr id="16" name="Rectangle 15"/>
          <p:cNvSpPr/>
          <p:nvPr/>
        </p:nvSpPr>
        <p:spPr>
          <a:xfrm>
            <a:off x="400000" y="5374960"/>
            <a:ext cx="4783306" cy="136304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00000" y="5374960"/>
            <a:ext cx="4783306" cy="240000"/>
          </a:xfrm>
          <a:prstGeom prst="rect">
            <a:avLst/>
          </a:prstGeom>
          <a:solidFill>
            <a:srgbClr val="A3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0000" y="5414960"/>
            <a:ext cx="4743306" cy="190000"/>
          </a:xfrm>
          <a:prstGeom prst="rect">
            <a:avLst/>
          </a:prstGeom>
          <a:noFill/>
        </p:spPr>
        <p:txBody>
          <a:bodyPr wrap="square">
            <a:spAutoFit/>
          </a:bodyPr>
          <a:lstStyle/>
          <a:p>
            <a:pPr algn="l"/>
            <a:r>
              <a:rPr sz="900" b="1" i="0">
                <a:solidFill>
                  <a:srgbClr val="FFFFFF"/>
                </a:solidFill>
                <a:latin typeface="Times New Roman"/>
              </a:rPr>
              <a:t>LIMITATIONS</a:t>
            </a:r>
          </a:p>
        </p:txBody>
      </p:sp>
      <p:sp>
        <p:nvSpPr>
          <p:cNvPr id="19" name="TextBox 18"/>
          <p:cNvSpPr txBox="1"/>
          <p:nvPr/>
        </p:nvSpPr>
        <p:spPr>
          <a:xfrm>
            <a:off x="420000" y="5634960"/>
            <a:ext cx="4743306" cy="1083040"/>
          </a:xfrm>
          <a:prstGeom prst="rect">
            <a:avLst/>
          </a:prstGeom>
          <a:noFill/>
        </p:spPr>
        <p:txBody>
          <a:bodyPr wrap="square">
            <a:spAutoFit/>
          </a:bodyPr>
          <a:lstStyle/>
          <a:p>
            <a:pPr algn="l"/>
            <a:r>
              <a:rPr sz="950" b="0" i="0">
                <a:solidFill>
                  <a:srgbClr val="1A233A"/>
                </a:solidFill>
                <a:latin typeface="Times New Roman"/>
              </a:rPr>
              <a:t>• Largest model: ~340 MB, slowest inference (~15–30 ms/image)
• Requires more GPU memory
• ViT may be overkill for overhead crops (limited pose variation)
• Trained on Market-1501 only (no MSMT17 variant in BoxMOT)</a:t>
            </a:r>
          </a:p>
        </p:txBody>
      </p:sp>
      <p:sp>
        <p:nvSpPr>
          <p:cNvPr id="20" name="Rectangle 19"/>
          <p:cNvSpPr/>
          <p:nvPr/>
        </p:nvSpPr>
        <p:spPr>
          <a:xfrm>
            <a:off x="5303306" y="1165840"/>
            <a:ext cx="6485519" cy="557216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303306" y="1165840"/>
            <a:ext cx="6485519" cy="240000"/>
          </a:xfrm>
          <a:prstGeom prst="rect">
            <a:avLst/>
          </a:prstGeom>
          <a:solidFill>
            <a:srgbClr val="A31F1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28306" y="1210840"/>
            <a:ext cx="6435519" cy="180000"/>
          </a:xfrm>
          <a:prstGeom prst="rect">
            <a:avLst/>
          </a:prstGeom>
          <a:noFill/>
        </p:spPr>
        <p:txBody>
          <a:bodyPr wrap="square">
            <a:spAutoFit/>
          </a:bodyPr>
          <a:lstStyle/>
          <a:p>
            <a:pPr algn="l"/>
            <a:r>
              <a:rPr sz="1100" b="1" i="0">
                <a:solidFill>
                  <a:srgbClr val="FFFFFF"/>
                </a:solidFill>
                <a:latin typeface="Times New Roman"/>
              </a:rPr>
              <a:t>Key Details</a:t>
            </a:r>
          </a:p>
        </p:txBody>
      </p:sp>
      <p:sp>
        <p:nvSpPr>
          <p:cNvPr id="23" name="TextBox 22"/>
          <p:cNvSpPr txBox="1"/>
          <p:nvPr/>
        </p:nvSpPr>
        <p:spPr>
          <a:xfrm>
            <a:off x="5328306" y="1435840"/>
            <a:ext cx="6435519" cy="5262160"/>
          </a:xfrm>
          <a:prstGeom prst="rect">
            <a:avLst/>
          </a:prstGeom>
          <a:noFill/>
        </p:spPr>
        <p:txBody>
          <a:bodyPr wrap="square">
            <a:spAutoFit/>
          </a:bodyPr>
          <a:lstStyle/>
          <a:p>
            <a:pPr algn="l"/>
            <a:r>
              <a:rPr sz="1000" b="0" i="0">
                <a:solidFill>
                  <a:srgbClr val="1A233A"/>
                </a:solidFill>
                <a:latin typeface="Times New Roman"/>
              </a:rPr>
              <a:t>CLIP-ReID is the most powerful model in this comparison. It leverages CLIP's ViT-B/16 encoder — pre-trained on 400 million image-text pairs — and adapts it to Re-ID using a two-stage fine-tuning strategy where text prompts provide identity-level supervision without requiring manual text labels.
The ViT backbone processes the entire crop as a sequence of 16×16 patches with global self-attention, capturing long-range spatial relationships that CNN-based models miss.
Weight file: clip_market1501.pt
Input size: 256 × 128 px
Parameters: ~86 M (ViT-B/16)
Published: Li et al., AAAI 2023
Benchmark (Market-1501-trained and evaluated):
  Rank-1: 94.1%   mAP: 87.4%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137160"/>
            <a:ext cx="11521440" cy="461665"/>
          </a:xfrm>
          <a:prstGeom prst="rect">
            <a:avLst/>
          </a:prstGeom>
          <a:noFill/>
        </p:spPr>
        <p:txBody>
          <a:bodyPr wrap="square">
            <a:spAutoFit/>
          </a:bodyPr>
          <a:lstStyle/>
          <a:p>
            <a:pPr algn="l"/>
            <a:r>
              <a:rPr sz="2400" b="1" i="0">
                <a:solidFill>
                  <a:srgbClr val="FFFFFF"/>
                </a:solidFill>
                <a:latin typeface="Times New Roman"/>
              </a:rPr>
              <a:t>ReID Model Comparison — Accuracy &amp; Speed</a:t>
            </a:r>
          </a:p>
        </p:txBody>
      </p:sp>
      <p:sp>
        <p:nvSpPr>
          <p:cNvPr id="4" name="Rectangle 3"/>
          <p:cNvSpPr/>
          <p:nvPr/>
        </p:nvSpPr>
        <p:spPr>
          <a:xfrm>
            <a:off x="400000" y="1155840"/>
            <a:ext cx="11388825" cy="24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40000" y="1205840"/>
            <a:ext cx="11308825" cy="160000"/>
          </a:xfrm>
          <a:prstGeom prst="rect">
            <a:avLst/>
          </a:prstGeom>
          <a:noFill/>
        </p:spPr>
        <p:txBody>
          <a:bodyPr wrap="square">
            <a:spAutoFit/>
          </a:bodyPr>
          <a:lstStyle/>
          <a:p>
            <a:pPr algn="l"/>
            <a:r>
              <a:rPr sz="1100" b="1" i="0">
                <a:solidFill>
                  <a:srgbClr val="FFFFFF"/>
                </a:solidFill>
                <a:latin typeface="Times New Roman"/>
              </a:rPr>
              <a:t>Published benchmark results (standard ReID datasets) + model characteristics</a:t>
            </a:r>
          </a:p>
        </p:txBody>
      </p:sp>
      <p:sp>
        <p:nvSpPr>
          <p:cNvPr id="6" name="Rectangle 5"/>
          <p:cNvSpPr/>
          <p:nvPr/>
        </p:nvSpPr>
        <p:spPr>
          <a:xfrm>
            <a:off x="400000" y="1395840"/>
            <a:ext cx="2496365"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0000" y="1415840"/>
            <a:ext cx="2476365" cy="350000"/>
          </a:xfrm>
          <a:prstGeom prst="rect">
            <a:avLst/>
          </a:prstGeom>
          <a:noFill/>
        </p:spPr>
        <p:txBody>
          <a:bodyPr wrap="square">
            <a:spAutoFit/>
          </a:bodyPr>
          <a:lstStyle/>
          <a:p>
            <a:pPr algn="ctr"/>
            <a:r>
              <a:rPr sz="850" b="1" i="0">
                <a:solidFill>
                  <a:srgbClr val="FFFFFF"/>
                </a:solidFill>
                <a:latin typeface="Times New Roman"/>
              </a:rPr>
              <a:t>Model</a:t>
            </a:r>
          </a:p>
        </p:txBody>
      </p:sp>
      <p:sp>
        <p:nvSpPr>
          <p:cNvPr id="8" name="Rectangle 7"/>
          <p:cNvSpPr/>
          <p:nvPr/>
        </p:nvSpPr>
        <p:spPr>
          <a:xfrm>
            <a:off x="2896365" y="1395840"/>
            <a:ext cx="1416856"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06365" y="1415840"/>
            <a:ext cx="1396856" cy="350000"/>
          </a:xfrm>
          <a:prstGeom prst="rect">
            <a:avLst/>
          </a:prstGeom>
          <a:noFill/>
        </p:spPr>
        <p:txBody>
          <a:bodyPr wrap="square">
            <a:spAutoFit/>
          </a:bodyPr>
          <a:lstStyle/>
          <a:p>
            <a:pPr algn="ctr"/>
            <a:r>
              <a:rPr sz="850" b="1" i="0">
                <a:solidFill>
                  <a:srgbClr val="FFFFFF"/>
                </a:solidFill>
                <a:latin typeface="Times New Roman"/>
              </a:rPr>
              <a:t>Backbone</a:t>
            </a:r>
          </a:p>
        </p:txBody>
      </p:sp>
      <p:sp>
        <p:nvSpPr>
          <p:cNvPr id="10" name="Rectangle 9"/>
          <p:cNvSpPr/>
          <p:nvPr/>
        </p:nvSpPr>
        <p:spPr>
          <a:xfrm>
            <a:off x="4313221" y="1395840"/>
            <a:ext cx="1281917"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23221" y="1415840"/>
            <a:ext cx="1261917" cy="350000"/>
          </a:xfrm>
          <a:prstGeom prst="rect">
            <a:avLst/>
          </a:prstGeom>
          <a:noFill/>
        </p:spPr>
        <p:txBody>
          <a:bodyPr wrap="square">
            <a:spAutoFit/>
          </a:bodyPr>
          <a:lstStyle/>
          <a:p>
            <a:pPr algn="ctr"/>
            <a:r>
              <a:rPr sz="850" b="1" i="0">
                <a:solidFill>
                  <a:srgbClr val="FFFFFF"/>
                </a:solidFill>
                <a:latin typeface="Times New Roman"/>
              </a:rPr>
              <a:t>Dataset</a:t>
            </a:r>
          </a:p>
        </p:txBody>
      </p:sp>
      <p:sp>
        <p:nvSpPr>
          <p:cNvPr id="12" name="Rectangle 11"/>
          <p:cNvSpPr/>
          <p:nvPr/>
        </p:nvSpPr>
        <p:spPr>
          <a:xfrm>
            <a:off x="5595138" y="1395840"/>
            <a:ext cx="1052521"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05138" y="1415840"/>
            <a:ext cx="1032521" cy="350000"/>
          </a:xfrm>
          <a:prstGeom prst="rect">
            <a:avLst/>
          </a:prstGeom>
          <a:noFill/>
        </p:spPr>
        <p:txBody>
          <a:bodyPr wrap="square">
            <a:spAutoFit/>
          </a:bodyPr>
          <a:lstStyle/>
          <a:p>
            <a:pPr algn="ctr"/>
            <a:r>
              <a:rPr sz="850" b="1" i="0">
                <a:solidFill>
                  <a:srgbClr val="FFFFFF"/>
                </a:solidFill>
                <a:latin typeface="Times New Roman"/>
              </a:rPr>
              <a:t>Rank-1
Mkt-1501</a:t>
            </a:r>
          </a:p>
        </p:txBody>
      </p:sp>
      <p:sp>
        <p:nvSpPr>
          <p:cNvPr id="14" name="Rectangle 13"/>
          <p:cNvSpPr/>
          <p:nvPr/>
        </p:nvSpPr>
        <p:spPr>
          <a:xfrm>
            <a:off x="6647659" y="1395840"/>
            <a:ext cx="971558"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57659" y="1415840"/>
            <a:ext cx="951558" cy="350000"/>
          </a:xfrm>
          <a:prstGeom prst="rect">
            <a:avLst/>
          </a:prstGeom>
          <a:noFill/>
        </p:spPr>
        <p:txBody>
          <a:bodyPr wrap="square">
            <a:spAutoFit/>
          </a:bodyPr>
          <a:lstStyle/>
          <a:p>
            <a:pPr algn="ctr"/>
            <a:r>
              <a:rPr sz="850" b="1" i="0">
                <a:solidFill>
                  <a:srgbClr val="FFFFFF"/>
                </a:solidFill>
                <a:latin typeface="Times New Roman"/>
              </a:rPr>
              <a:t>mAP
Mkt-1501</a:t>
            </a:r>
          </a:p>
        </p:txBody>
      </p:sp>
      <p:sp>
        <p:nvSpPr>
          <p:cNvPr id="16" name="Rectangle 15"/>
          <p:cNvSpPr/>
          <p:nvPr/>
        </p:nvSpPr>
        <p:spPr>
          <a:xfrm>
            <a:off x="7619217" y="1395840"/>
            <a:ext cx="971558"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29217" y="1415840"/>
            <a:ext cx="951558" cy="350000"/>
          </a:xfrm>
          <a:prstGeom prst="rect">
            <a:avLst/>
          </a:prstGeom>
          <a:noFill/>
        </p:spPr>
        <p:txBody>
          <a:bodyPr wrap="square">
            <a:spAutoFit/>
          </a:bodyPr>
          <a:lstStyle/>
          <a:p>
            <a:pPr algn="ctr"/>
            <a:r>
              <a:rPr sz="850" b="1" i="0">
                <a:solidFill>
                  <a:srgbClr val="FFFFFF"/>
                </a:solidFill>
                <a:latin typeface="Times New Roman"/>
              </a:rPr>
              <a:t>Rank-1
Duke</a:t>
            </a:r>
          </a:p>
        </p:txBody>
      </p:sp>
      <p:sp>
        <p:nvSpPr>
          <p:cNvPr id="18" name="Rectangle 17"/>
          <p:cNvSpPr/>
          <p:nvPr/>
        </p:nvSpPr>
        <p:spPr>
          <a:xfrm>
            <a:off x="8590775" y="1395840"/>
            <a:ext cx="971558"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00775" y="1415840"/>
            <a:ext cx="951558" cy="350000"/>
          </a:xfrm>
          <a:prstGeom prst="rect">
            <a:avLst/>
          </a:prstGeom>
          <a:noFill/>
        </p:spPr>
        <p:txBody>
          <a:bodyPr wrap="square">
            <a:spAutoFit/>
          </a:bodyPr>
          <a:lstStyle/>
          <a:p>
            <a:pPr algn="ctr"/>
            <a:r>
              <a:rPr sz="850" b="1" i="0">
                <a:solidFill>
                  <a:srgbClr val="FFFFFF"/>
                </a:solidFill>
                <a:latin typeface="Times New Roman"/>
              </a:rPr>
              <a:t>mAP
Duke</a:t>
            </a:r>
          </a:p>
        </p:txBody>
      </p:sp>
      <p:sp>
        <p:nvSpPr>
          <p:cNvPr id="20" name="Rectangle 19"/>
          <p:cNvSpPr/>
          <p:nvPr/>
        </p:nvSpPr>
        <p:spPr>
          <a:xfrm>
            <a:off x="9562333" y="1395840"/>
            <a:ext cx="944570"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572333" y="1415840"/>
            <a:ext cx="924570" cy="350000"/>
          </a:xfrm>
          <a:prstGeom prst="rect">
            <a:avLst/>
          </a:prstGeom>
          <a:noFill/>
        </p:spPr>
        <p:txBody>
          <a:bodyPr wrap="square">
            <a:spAutoFit/>
          </a:bodyPr>
          <a:lstStyle/>
          <a:p>
            <a:pPr algn="ctr"/>
            <a:r>
              <a:rPr sz="850" b="1" i="0">
                <a:solidFill>
                  <a:srgbClr val="FFFFFF"/>
                </a:solidFill>
                <a:latin typeface="Times New Roman"/>
              </a:rPr>
              <a:t>Params</a:t>
            </a:r>
          </a:p>
        </p:txBody>
      </p:sp>
      <p:sp>
        <p:nvSpPr>
          <p:cNvPr id="22" name="Rectangle 21"/>
          <p:cNvSpPr/>
          <p:nvPr/>
        </p:nvSpPr>
        <p:spPr>
          <a:xfrm>
            <a:off x="10506903" y="1395840"/>
            <a:ext cx="1281922" cy="380000"/>
          </a:xfrm>
          <a:prstGeom prst="rect">
            <a:avLst/>
          </a:prstGeom>
          <a:solidFill>
            <a:srgbClr val="1A23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6903" y="1415840"/>
            <a:ext cx="1261922" cy="350000"/>
          </a:xfrm>
          <a:prstGeom prst="rect">
            <a:avLst/>
          </a:prstGeom>
          <a:noFill/>
        </p:spPr>
        <p:txBody>
          <a:bodyPr wrap="square">
            <a:spAutoFit/>
          </a:bodyPr>
          <a:lstStyle/>
          <a:p>
            <a:pPr algn="ctr"/>
            <a:r>
              <a:rPr sz="850" b="1" i="0">
                <a:solidFill>
                  <a:srgbClr val="FFFFFF"/>
                </a:solidFill>
                <a:latin typeface="Times New Roman"/>
              </a:rPr>
              <a:t>Speed
(CPU ms)</a:t>
            </a:r>
          </a:p>
        </p:txBody>
      </p:sp>
      <p:sp>
        <p:nvSpPr>
          <p:cNvPr id="24" name="Rectangle 23"/>
          <p:cNvSpPr/>
          <p:nvPr/>
        </p:nvSpPr>
        <p:spPr>
          <a:xfrm>
            <a:off x="400000" y="1775840"/>
            <a:ext cx="2496365"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0000" y="1825840"/>
            <a:ext cx="2476365" cy="270000"/>
          </a:xfrm>
          <a:prstGeom prst="rect">
            <a:avLst/>
          </a:prstGeom>
          <a:noFill/>
        </p:spPr>
        <p:txBody>
          <a:bodyPr wrap="square">
            <a:spAutoFit/>
          </a:bodyPr>
          <a:lstStyle/>
          <a:p>
            <a:pPr algn="l"/>
            <a:r>
              <a:rPr sz="900" b="1" i="0">
                <a:solidFill>
                  <a:srgbClr val="1A233A"/>
                </a:solidFill>
                <a:latin typeface="Times New Roman"/>
              </a:rPr>
              <a:t>OSNet x0.25</a:t>
            </a:r>
          </a:p>
        </p:txBody>
      </p:sp>
      <p:sp>
        <p:nvSpPr>
          <p:cNvPr id="26" name="Rectangle 25"/>
          <p:cNvSpPr/>
          <p:nvPr/>
        </p:nvSpPr>
        <p:spPr>
          <a:xfrm>
            <a:off x="2896365" y="1775840"/>
            <a:ext cx="1416856"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906365" y="1825840"/>
            <a:ext cx="1396856" cy="270000"/>
          </a:xfrm>
          <a:prstGeom prst="rect">
            <a:avLst/>
          </a:prstGeom>
          <a:noFill/>
        </p:spPr>
        <p:txBody>
          <a:bodyPr wrap="square">
            <a:spAutoFit/>
          </a:bodyPr>
          <a:lstStyle/>
          <a:p>
            <a:pPr algn="ctr"/>
            <a:r>
              <a:rPr sz="900" b="0" i="0">
                <a:solidFill>
                  <a:srgbClr val="1A233A"/>
                </a:solidFill>
                <a:latin typeface="Times New Roman"/>
              </a:rPr>
              <a:t>OSNet</a:t>
            </a:r>
          </a:p>
        </p:txBody>
      </p:sp>
      <p:sp>
        <p:nvSpPr>
          <p:cNvPr id="28" name="Rectangle 27"/>
          <p:cNvSpPr/>
          <p:nvPr/>
        </p:nvSpPr>
        <p:spPr>
          <a:xfrm>
            <a:off x="4313221" y="1775840"/>
            <a:ext cx="1281917"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23221" y="1825840"/>
            <a:ext cx="1261917" cy="270000"/>
          </a:xfrm>
          <a:prstGeom prst="rect">
            <a:avLst/>
          </a:prstGeom>
          <a:noFill/>
        </p:spPr>
        <p:txBody>
          <a:bodyPr wrap="square">
            <a:spAutoFit/>
          </a:bodyPr>
          <a:lstStyle/>
          <a:p>
            <a:pPr algn="ctr"/>
            <a:r>
              <a:rPr sz="900" b="0" i="0">
                <a:solidFill>
                  <a:srgbClr val="1A233A"/>
                </a:solidFill>
                <a:latin typeface="Times New Roman"/>
              </a:rPr>
              <a:t>MSMT17</a:t>
            </a:r>
          </a:p>
        </p:txBody>
      </p:sp>
      <p:sp>
        <p:nvSpPr>
          <p:cNvPr id="30" name="Rectangle 29"/>
          <p:cNvSpPr/>
          <p:nvPr/>
        </p:nvSpPr>
        <p:spPr>
          <a:xfrm>
            <a:off x="5595138" y="1775840"/>
            <a:ext cx="1052521"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05138" y="1825840"/>
            <a:ext cx="1032521" cy="270000"/>
          </a:xfrm>
          <a:prstGeom prst="rect">
            <a:avLst/>
          </a:prstGeom>
          <a:noFill/>
        </p:spPr>
        <p:txBody>
          <a:bodyPr wrap="square">
            <a:spAutoFit/>
          </a:bodyPr>
          <a:lstStyle/>
          <a:p>
            <a:pPr algn="ctr"/>
            <a:r>
              <a:rPr sz="900" b="0" i="0">
                <a:solidFill>
                  <a:srgbClr val="1A233A"/>
                </a:solidFill>
                <a:latin typeface="Times New Roman"/>
              </a:rPr>
              <a:t>73.9%</a:t>
            </a:r>
          </a:p>
        </p:txBody>
      </p:sp>
      <p:sp>
        <p:nvSpPr>
          <p:cNvPr id="32" name="Rectangle 31"/>
          <p:cNvSpPr/>
          <p:nvPr/>
        </p:nvSpPr>
        <p:spPr>
          <a:xfrm>
            <a:off x="6647659" y="177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57659" y="1825840"/>
            <a:ext cx="951558" cy="270000"/>
          </a:xfrm>
          <a:prstGeom prst="rect">
            <a:avLst/>
          </a:prstGeom>
          <a:noFill/>
        </p:spPr>
        <p:txBody>
          <a:bodyPr wrap="square">
            <a:spAutoFit/>
          </a:bodyPr>
          <a:lstStyle/>
          <a:p>
            <a:pPr algn="ctr"/>
            <a:r>
              <a:rPr sz="900" b="0" i="0">
                <a:solidFill>
                  <a:srgbClr val="1A233A"/>
                </a:solidFill>
                <a:latin typeface="Times New Roman"/>
              </a:rPr>
              <a:t>43.2%</a:t>
            </a:r>
          </a:p>
        </p:txBody>
      </p:sp>
      <p:sp>
        <p:nvSpPr>
          <p:cNvPr id="34" name="Rectangle 33"/>
          <p:cNvSpPr/>
          <p:nvPr/>
        </p:nvSpPr>
        <p:spPr>
          <a:xfrm>
            <a:off x="7619217" y="177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29217" y="1825840"/>
            <a:ext cx="951558" cy="270000"/>
          </a:xfrm>
          <a:prstGeom prst="rect">
            <a:avLst/>
          </a:prstGeom>
          <a:noFill/>
        </p:spPr>
        <p:txBody>
          <a:bodyPr wrap="square">
            <a:spAutoFit/>
          </a:bodyPr>
          <a:lstStyle/>
          <a:p>
            <a:pPr algn="ctr"/>
            <a:r>
              <a:rPr sz="900" b="0" i="0">
                <a:solidFill>
                  <a:srgbClr val="1A233A"/>
                </a:solidFill>
                <a:latin typeface="Times New Roman"/>
              </a:rPr>
              <a:t>64.2%</a:t>
            </a:r>
          </a:p>
        </p:txBody>
      </p:sp>
      <p:sp>
        <p:nvSpPr>
          <p:cNvPr id="36" name="Rectangle 35"/>
          <p:cNvSpPr/>
          <p:nvPr/>
        </p:nvSpPr>
        <p:spPr>
          <a:xfrm>
            <a:off x="8590775" y="177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600775" y="1825840"/>
            <a:ext cx="951558" cy="270000"/>
          </a:xfrm>
          <a:prstGeom prst="rect">
            <a:avLst/>
          </a:prstGeom>
          <a:noFill/>
        </p:spPr>
        <p:txBody>
          <a:bodyPr wrap="square">
            <a:spAutoFit/>
          </a:bodyPr>
          <a:lstStyle/>
          <a:p>
            <a:pPr algn="ctr"/>
            <a:r>
              <a:rPr sz="900" b="0" i="0">
                <a:solidFill>
                  <a:srgbClr val="1A233A"/>
                </a:solidFill>
                <a:latin typeface="Times New Roman"/>
              </a:rPr>
              <a:t>38.9%</a:t>
            </a:r>
          </a:p>
        </p:txBody>
      </p:sp>
      <p:sp>
        <p:nvSpPr>
          <p:cNvPr id="38" name="Rectangle 37"/>
          <p:cNvSpPr/>
          <p:nvPr/>
        </p:nvSpPr>
        <p:spPr>
          <a:xfrm>
            <a:off x="9562333" y="1775840"/>
            <a:ext cx="944570"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572333" y="1825840"/>
            <a:ext cx="924570" cy="270000"/>
          </a:xfrm>
          <a:prstGeom prst="rect">
            <a:avLst/>
          </a:prstGeom>
          <a:noFill/>
        </p:spPr>
        <p:txBody>
          <a:bodyPr wrap="square">
            <a:spAutoFit/>
          </a:bodyPr>
          <a:lstStyle/>
          <a:p>
            <a:pPr algn="ctr"/>
            <a:r>
              <a:rPr sz="900" b="0" i="0">
                <a:solidFill>
                  <a:srgbClr val="1A233A"/>
                </a:solidFill>
                <a:latin typeface="Times New Roman"/>
              </a:rPr>
              <a:t>0.22 M</a:t>
            </a:r>
          </a:p>
        </p:txBody>
      </p:sp>
      <p:sp>
        <p:nvSpPr>
          <p:cNvPr id="40" name="Rectangle 39"/>
          <p:cNvSpPr/>
          <p:nvPr/>
        </p:nvSpPr>
        <p:spPr>
          <a:xfrm>
            <a:off x="10506903" y="1775840"/>
            <a:ext cx="1281922"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6903" y="1825840"/>
            <a:ext cx="1261922" cy="270000"/>
          </a:xfrm>
          <a:prstGeom prst="rect">
            <a:avLst/>
          </a:prstGeom>
          <a:noFill/>
        </p:spPr>
        <p:txBody>
          <a:bodyPr wrap="square">
            <a:spAutoFit/>
          </a:bodyPr>
          <a:lstStyle/>
          <a:p>
            <a:pPr algn="ctr"/>
            <a:r>
              <a:rPr sz="900" b="0" i="0">
                <a:solidFill>
                  <a:srgbClr val="1A233A"/>
                </a:solidFill>
                <a:latin typeface="Times New Roman"/>
              </a:rPr>
              <a:t>~3 ms</a:t>
            </a:r>
          </a:p>
        </p:txBody>
      </p:sp>
      <p:sp>
        <p:nvSpPr>
          <p:cNvPr id="42" name="Rectangle 41"/>
          <p:cNvSpPr/>
          <p:nvPr/>
        </p:nvSpPr>
        <p:spPr>
          <a:xfrm>
            <a:off x="400000" y="2115840"/>
            <a:ext cx="2496365"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0000" y="2165840"/>
            <a:ext cx="2476365" cy="270000"/>
          </a:xfrm>
          <a:prstGeom prst="rect">
            <a:avLst/>
          </a:prstGeom>
          <a:noFill/>
        </p:spPr>
        <p:txBody>
          <a:bodyPr wrap="square">
            <a:spAutoFit/>
          </a:bodyPr>
          <a:lstStyle/>
          <a:p>
            <a:pPr algn="l"/>
            <a:r>
              <a:rPr sz="900" b="1" i="0">
                <a:solidFill>
                  <a:srgbClr val="1A508A"/>
                </a:solidFill>
                <a:latin typeface="Times New Roman"/>
              </a:rPr>
              <a:t>OSNet AIN x1.0</a:t>
            </a:r>
          </a:p>
        </p:txBody>
      </p:sp>
      <p:sp>
        <p:nvSpPr>
          <p:cNvPr id="44" name="Rectangle 43"/>
          <p:cNvSpPr/>
          <p:nvPr/>
        </p:nvSpPr>
        <p:spPr>
          <a:xfrm>
            <a:off x="2896365" y="2115840"/>
            <a:ext cx="1416856"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906365" y="2165840"/>
            <a:ext cx="1396856" cy="270000"/>
          </a:xfrm>
          <a:prstGeom prst="rect">
            <a:avLst/>
          </a:prstGeom>
          <a:noFill/>
        </p:spPr>
        <p:txBody>
          <a:bodyPr wrap="square">
            <a:spAutoFit/>
          </a:bodyPr>
          <a:lstStyle/>
          <a:p>
            <a:pPr algn="ctr"/>
            <a:r>
              <a:rPr sz="900" b="0" i="0">
                <a:solidFill>
                  <a:srgbClr val="1A233A"/>
                </a:solidFill>
                <a:latin typeface="Times New Roman"/>
              </a:rPr>
              <a:t>OSNet+AIN</a:t>
            </a:r>
          </a:p>
        </p:txBody>
      </p:sp>
      <p:sp>
        <p:nvSpPr>
          <p:cNvPr id="46" name="Rectangle 45"/>
          <p:cNvSpPr/>
          <p:nvPr/>
        </p:nvSpPr>
        <p:spPr>
          <a:xfrm>
            <a:off x="4313221" y="2115840"/>
            <a:ext cx="1281917"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23221" y="2165840"/>
            <a:ext cx="1261917" cy="270000"/>
          </a:xfrm>
          <a:prstGeom prst="rect">
            <a:avLst/>
          </a:prstGeom>
          <a:noFill/>
        </p:spPr>
        <p:txBody>
          <a:bodyPr wrap="square">
            <a:spAutoFit/>
          </a:bodyPr>
          <a:lstStyle/>
          <a:p>
            <a:pPr algn="ctr"/>
            <a:r>
              <a:rPr sz="900" b="0" i="0">
                <a:solidFill>
                  <a:srgbClr val="1A233A"/>
                </a:solidFill>
                <a:latin typeface="Times New Roman"/>
              </a:rPr>
              <a:t>MSMT17</a:t>
            </a:r>
          </a:p>
        </p:txBody>
      </p:sp>
      <p:sp>
        <p:nvSpPr>
          <p:cNvPr id="48" name="Rectangle 47"/>
          <p:cNvSpPr/>
          <p:nvPr/>
        </p:nvSpPr>
        <p:spPr>
          <a:xfrm>
            <a:off x="5595138" y="2115840"/>
            <a:ext cx="1052521"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05138" y="2165840"/>
            <a:ext cx="1032521" cy="270000"/>
          </a:xfrm>
          <a:prstGeom prst="rect">
            <a:avLst/>
          </a:prstGeom>
          <a:noFill/>
        </p:spPr>
        <p:txBody>
          <a:bodyPr wrap="square">
            <a:spAutoFit/>
          </a:bodyPr>
          <a:lstStyle/>
          <a:p>
            <a:pPr algn="ctr"/>
            <a:r>
              <a:rPr sz="900" b="0" i="0">
                <a:solidFill>
                  <a:srgbClr val="1A233A"/>
                </a:solidFill>
                <a:latin typeface="Times New Roman"/>
              </a:rPr>
              <a:t>92.1%</a:t>
            </a:r>
          </a:p>
        </p:txBody>
      </p:sp>
      <p:sp>
        <p:nvSpPr>
          <p:cNvPr id="50" name="Rectangle 49"/>
          <p:cNvSpPr/>
          <p:nvPr/>
        </p:nvSpPr>
        <p:spPr>
          <a:xfrm>
            <a:off x="6647659" y="211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657659" y="2165840"/>
            <a:ext cx="951558" cy="270000"/>
          </a:xfrm>
          <a:prstGeom prst="rect">
            <a:avLst/>
          </a:prstGeom>
          <a:noFill/>
        </p:spPr>
        <p:txBody>
          <a:bodyPr wrap="square">
            <a:spAutoFit/>
          </a:bodyPr>
          <a:lstStyle/>
          <a:p>
            <a:pPr algn="ctr"/>
            <a:r>
              <a:rPr sz="900" b="0" i="0">
                <a:solidFill>
                  <a:srgbClr val="1A233A"/>
                </a:solidFill>
                <a:latin typeface="Times New Roman"/>
              </a:rPr>
              <a:t>79.1%</a:t>
            </a:r>
          </a:p>
        </p:txBody>
      </p:sp>
      <p:sp>
        <p:nvSpPr>
          <p:cNvPr id="52" name="Rectangle 51"/>
          <p:cNvSpPr/>
          <p:nvPr/>
        </p:nvSpPr>
        <p:spPr>
          <a:xfrm>
            <a:off x="7619217" y="211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629217" y="2165840"/>
            <a:ext cx="951558" cy="270000"/>
          </a:xfrm>
          <a:prstGeom prst="rect">
            <a:avLst/>
          </a:prstGeom>
          <a:noFill/>
        </p:spPr>
        <p:txBody>
          <a:bodyPr wrap="square">
            <a:spAutoFit/>
          </a:bodyPr>
          <a:lstStyle/>
          <a:p>
            <a:pPr algn="ctr"/>
            <a:r>
              <a:rPr sz="900" b="0" i="0">
                <a:solidFill>
                  <a:srgbClr val="1A233A"/>
                </a:solidFill>
                <a:latin typeface="Times New Roman"/>
              </a:rPr>
              <a:t>83.8%</a:t>
            </a:r>
          </a:p>
        </p:txBody>
      </p:sp>
      <p:sp>
        <p:nvSpPr>
          <p:cNvPr id="54" name="Rectangle 53"/>
          <p:cNvSpPr/>
          <p:nvPr/>
        </p:nvSpPr>
        <p:spPr>
          <a:xfrm>
            <a:off x="8590775" y="211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600775" y="2165840"/>
            <a:ext cx="951558" cy="270000"/>
          </a:xfrm>
          <a:prstGeom prst="rect">
            <a:avLst/>
          </a:prstGeom>
          <a:noFill/>
        </p:spPr>
        <p:txBody>
          <a:bodyPr wrap="square">
            <a:spAutoFit/>
          </a:bodyPr>
          <a:lstStyle/>
          <a:p>
            <a:pPr algn="ctr"/>
            <a:r>
              <a:rPr sz="900" b="0" i="0">
                <a:solidFill>
                  <a:srgbClr val="1A233A"/>
                </a:solidFill>
                <a:latin typeface="Times New Roman"/>
              </a:rPr>
              <a:t>68.1%</a:t>
            </a:r>
          </a:p>
        </p:txBody>
      </p:sp>
      <p:sp>
        <p:nvSpPr>
          <p:cNvPr id="56" name="Rectangle 55"/>
          <p:cNvSpPr/>
          <p:nvPr/>
        </p:nvSpPr>
        <p:spPr>
          <a:xfrm>
            <a:off x="9562333" y="2115840"/>
            <a:ext cx="944570"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572333" y="2165840"/>
            <a:ext cx="924570" cy="270000"/>
          </a:xfrm>
          <a:prstGeom prst="rect">
            <a:avLst/>
          </a:prstGeom>
          <a:noFill/>
        </p:spPr>
        <p:txBody>
          <a:bodyPr wrap="square">
            <a:spAutoFit/>
          </a:bodyPr>
          <a:lstStyle/>
          <a:p>
            <a:pPr algn="ctr"/>
            <a:r>
              <a:rPr sz="900" b="0" i="0">
                <a:solidFill>
                  <a:srgbClr val="1A233A"/>
                </a:solidFill>
                <a:latin typeface="Times New Roman"/>
              </a:rPr>
              <a:t>2.2 M</a:t>
            </a:r>
          </a:p>
        </p:txBody>
      </p:sp>
      <p:sp>
        <p:nvSpPr>
          <p:cNvPr id="58" name="Rectangle 57"/>
          <p:cNvSpPr/>
          <p:nvPr/>
        </p:nvSpPr>
        <p:spPr>
          <a:xfrm>
            <a:off x="10506903" y="2115840"/>
            <a:ext cx="1281922"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516903" y="2165840"/>
            <a:ext cx="1261922" cy="270000"/>
          </a:xfrm>
          <a:prstGeom prst="rect">
            <a:avLst/>
          </a:prstGeom>
          <a:noFill/>
        </p:spPr>
        <p:txBody>
          <a:bodyPr wrap="square">
            <a:spAutoFit/>
          </a:bodyPr>
          <a:lstStyle/>
          <a:p>
            <a:pPr algn="ctr"/>
            <a:r>
              <a:rPr sz="900" b="0" i="0">
                <a:solidFill>
                  <a:srgbClr val="1A233A"/>
                </a:solidFill>
                <a:latin typeface="Times New Roman"/>
              </a:rPr>
              <a:t>~9 ms</a:t>
            </a:r>
          </a:p>
        </p:txBody>
      </p:sp>
      <p:sp>
        <p:nvSpPr>
          <p:cNvPr id="60" name="Rectangle 59"/>
          <p:cNvSpPr/>
          <p:nvPr/>
        </p:nvSpPr>
        <p:spPr>
          <a:xfrm>
            <a:off x="400000" y="2455840"/>
            <a:ext cx="2496365"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10000" y="2505840"/>
            <a:ext cx="2476365" cy="270000"/>
          </a:xfrm>
          <a:prstGeom prst="rect">
            <a:avLst/>
          </a:prstGeom>
          <a:noFill/>
        </p:spPr>
        <p:txBody>
          <a:bodyPr wrap="square">
            <a:spAutoFit/>
          </a:bodyPr>
          <a:lstStyle/>
          <a:p>
            <a:pPr algn="l"/>
            <a:r>
              <a:rPr sz="900" b="1" i="0">
                <a:solidFill>
                  <a:srgbClr val="0E6A6A"/>
                </a:solidFill>
                <a:latin typeface="Times New Roman"/>
              </a:rPr>
              <a:t>LMBN (n-duke)</a:t>
            </a:r>
          </a:p>
        </p:txBody>
      </p:sp>
      <p:sp>
        <p:nvSpPr>
          <p:cNvPr id="62" name="Rectangle 61"/>
          <p:cNvSpPr/>
          <p:nvPr/>
        </p:nvSpPr>
        <p:spPr>
          <a:xfrm>
            <a:off x="2896365" y="2455840"/>
            <a:ext cx="1416856"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2906365" y="2505840"/>
            <a:ext cx="1396856" cy="270000"/>
          </a:xfrm>
          <a:prstGeom prst="rect">
            <a:avLst/>
          </a:prstGeom>
          <a:noFill/>
        </p:spPr>
        <p:txBody>
          <a:bodyPr wrap="square">
            <a:spAutoFit/>
          </a:bodyPr>
          <a:lstStyle/>
          <a:p>
            <a:pPr algn="ctr"/>
            <a:r>
              <a:rPr sz="900" b="0" i="0">
                <a:solidFill>
                  <a:srgbClr val="1A233A"/>
                </a:solidFill>
                <a:latin typeface="Times New Roman"/>
              </a:rPr>
              <a:t>ResNet-50</a:t>
            </a:r>
          </a:p>
        </p:txBody>
      </p:sp>
      <p:sp>
        <p:nvSpPr>
          <p:cNvPr id="64" name="Rectangle 63"/>
          <p:cNvSpPr/>
          <p:nvPr/>
        </p:nvSpPr>
        <p:spPr>
          <a:xfrm>
            <a:off x="4313221" y="2455840"/>
            <a:ext cx="1281917"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4323221" y="2505840"/>
            <a:ext cx="1261917" cy="270000"/>
          </a:xfrm>
          <a:prstGeom prst="rect">
            <a:avLst/>
          </a:prstGeom>
          <a:noFill/>
        </p:spPr>
        <p:txBody>
          <a:bodyPr wrap="square">
            <a:spAutoFit/>
          </a:bodyPr>
          <a:lstStyle/>
          <a:p>
            <a:pPr algn="ctr"/>
            <a:r>
              <a:rPr sz="900" b="0" i="0">
                <a:solidFill>
                  <a:srgbClr val="1A233A"/>
                </a:solidFill>
                <a:latin typeface="Times New Roman"/>
              </a:rPr>
              <a:t>DukeMTMC</a:t>
            </a:r>
          </a:p>
        </p:txBody>
      </p:sp>
      <p:sp>
        <p:nvSpPr>
          <p:cNvPr id="66" name="Rectangle 65"/>
          <p:cNvSpPr/>
          <p:nvPr/>
        </p:nvSpPr>
        <p:spPr>
          <a:xfrm>
            <a:off x="5595138" y="2455840"/>
            <a:ext cx="1052521"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5605138" y="2505840"/>
            <a:ext cx="1032521" cy="270000"/>
          </a:xfrm>
          <a:prstGeom prst="rect">
            <a:avLst/>
          </a:prstGeom>
          <a:noFill/>
        </p:spPr>
        <p:txBody>
          <a:bodyPr wrap="square">
            <a:spAutoFit/>
          </a:bodyPr>
          <a:lstStyle/>
          <a:p>
            <a:pPr algn="ctr"/>
            <a:r>
              <a:rPr sz="900" b="0" i="0">
                <a:solidFill>
                  <a:srgbClr val="1A233A"/>
                </a:solidFill>
                <a:latin typeface="Times New Roman"/>
              </a:rPr>
              <a:t>92.3%</a:t>
            </a:r>
          </a:p>
        </p:txBody>
      </p:sp>
      <p:sp>
        <p:nvSpPr>
          <p:cNvPr id="68" name="Rectangle 67"/>
          <p:cNvSpPr/>
          <p:nvPr/>
        </p:nvSpPr>
        <p:spPr>
          <a:xfrm>
            <a:off x="6647659" y="245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657659" y="2505840"/>
            <a:ext cx="951558" cy="270000"/>
          </a:xfrm>
          <a:prstGeom prst="rect">
            <a:avLst/>
          </a:prstGeom>
          <a:noFill/>
        </p:spPr>
        <p:txBody>
          <a:bodyPr wrap="square">
            <a:spAutoFit/>
          </a:bodyPr>
          <a:lstStyle/>
          <a:p>
            <a:pPr algn="ctr"/>
            <a:r>
              <a:rPr sz="900" b="0" i="0">
                <a:solidFill>
                  <a:srgbClr val="1A233A"/>
                </a:solidFill>
                <a:latin typeface="Times New Roman"/>
              </a:rPr>
              <a:t>80.1%</a:t>
            </a:r>
          </a:p>
        </p:txBody>
      </p:sp>
      <p:sp>
        <p:nvSpPr>
          <p:cNvPr id="70" name="Rectangle 69"/>
          <p:cNvSpPr/>
          <p:nvPr/>
        </p:nvSpPr>
        <p:spPr>
          <a:xfrm>
            <a:off x="7619217" y="245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7629217" y="2505840"/>
            <a:ext cx="951558" cy="270000"/>
          </a:xfrm>
          <a:prstGeom prst="rect">
            <a:avLst/>
          </a:prstGeom>
          <a:noFill/>
        </p:spPr>
        <p:txBody>
          <a:bodyPr wrap="square">
            <a:spAutoFit/>
          </a:bodyPr>
          <a:lstStyle/>
          <a:p>
            <a:pPr algn="ctr"/>
            <a:r>
              <a:rPr sz="900" b="0" i="0">
                <a:solidFill>
                  <a:srgbClr val="1A233A"/>
                </a:solidFill>
                <a:latin typeface="Times New Roman"/>
              </a:rPr>
              <a:t>83.2%</a:t>
            </a:r>
          </a:p>
        </p:txBody>
      </p:sp>
      <p:sp>
        <p:nvSpPr>
          <p:cNvPr id="72" name="Rectangle 71"/>
          <p:cNvSpPr/>
          <p:nvPr/>
        </p:nvSpPr>
        <p:spPr>
          <a:xfrm>
            <a:off x="8590775" y="245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8600775" y="2505840"/>
            <a:ext cx="951558" cy="270000"/>
          </a:xfrm>
          <a:prstGeom prst="rect">
            <a:avLst/>
          </a:prstGeom>
          <a:noFill/>
        </p:spPr>
        <p:txBody>
          <a:bodyPr wrap="square">
            <a:spAutoFit/>
          </a:bodyPr>
          <a:lstStyle/>
          <a:p>
            <a:pPr algn="ctr"/>
            <a:r>
              <a:rPr sz="900" b="0" i="0">
                <a:solidFill>
                  <a:srgbClr val="1A233A"/>
                </a:solidFill>
                <a:latin typeface="Times New Roman"/>
              </a:rPr>
              <a:t>69.7%</a:t>
            </a:r>
          </a:p>
        </p:txBody>
      </p:sp>
      <p:sp>
        <p:nvSpPr>
          <p:cNvPr id="74" name="Rectangle 73"/>
          <p:cNvSpPr/>
          <p:nvPr/>
        </p:nvSpPr>
        <p:spPr>
          <a:xfrm>
            <a:off x="9562333" y="2455840"/>
            <a:ext cx="944570"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9572333" y="2505840"/>
            <a:ext cx="924570" cy="270000"/>
          </a:xfrm>
          <a:prstGeom prst="rect">
            <a:avLst/>
          </a:prstGeom>
          <a:noFill/>
        </p:spPr>
        <p:txBody>
          <a:bodyPr wrap="square">
            <a:spAutoFit/>
          </a:bodyPr>
          <a:lstStyle/>
          <a:p>
            <a:pPr algn="ctr"/>
            <a:r>
              <a:rPr sz="900" b="0" i="0">
                <a:solidFill>
                  <a:srgbClr val="1A233A"/>
                </a:solidFill>
                <a:latin typeface="Times New Roman"/>
              </a:rPr>
              <a:t>31 M</a:t>
            </a:r>
          </a:p>
        </p:txBody>
      </p:sp>
      <p:sp>
        <p:nvSpPr>
          <p:cNvPr id="76" name="Rectangle 75"/>
          <p:cNvSpPr/>
          <p:nvPr/>
        </p:nvSpPr>
        <p:spPr>
          <a:xfrm>
            <a:off x="10506903" y="2455840"/>
            <a:ext cx="1281922"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10516903" y="2505840"/>
            <a:ext cx="1261922" cy="270000"/>
          </a:xfrm>
          <a:prstGeom prst="rect">
            <a:avLst/>
          </a:prstGeom>
          <a:noFill/>
        </p:spPr>
        <p:txBody>
          <a:bodyPr wrap="square">
            <a:spAutoFit/>
          </a:bodyPr>
          <a:lstStyle/>
          <a:p>
            <a:pPr algn="ctr"/>
            <a:r>
              <a:rPr sz="900" b="0" i="0">
                <a:solidFill>
                  <a:srgbClr val="1A233A"/>
                </a:solidFill>
                <a:latin typeface="Times New Roman"/>
              </a:rPr>
              <a:t>~18 ms</a:t>
            </a:r>
          </a:p>
        </p:txBody>
      </p:sp>
      <p:sp>
        <p:nvSpPr>
          <p:cNvPr id="78" name="Rectangle 77"/>
          <p:cNvSpPr/>
          <p:nvPr/>
        </p:nvSpPr>
        <p:spPr>
          <a:xfrm>
            <a:off x="400000" y="2795840"/>
            <a:ext cx="2496365"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410000" y="2845840"/>
            <a:ext cx="2476365" cy="270000"/>
          </a:xfrm>
          <a:prstGeom prst="rect">
            <a:avLst/>
          </a:prstGeom>
          <a:noFill/>
        </p:spPr>
        <p:txBody>
          <a:bodyPr wrap="square">
            <a:spAutoFit/>
          </a:bodyPr>
          <a:lstStyle/>
          <a:p>
            <a:pPr algn="l"/>
            <a:r>
              <a:rPr sz="900" b="1" i="0">
                <a:solidFill>
                  <a:srgbClr val="5A1A7A"/>
                </a:solidFill>
                <a:latin typeface="Times New Roman"/>
              </a:rPr>
              <a:t>HACNN</a:t>
            </a:r>
          </a:p>
        </p:txBody>
      </p:sp>
      <p:sp>
        <p:nvSpPr>
          <p:cNvPr id="80" name="Rectangle 79"/>
          <p:cNvSpPr/>
          <p:nvPr/>
        </p:nvSpPr>
        <p:spPr>
          <a:xfrm>
            <a:off x="2896365" y="2795840"/>
            <a:ext cx="1416856"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2906365" y="2845840"/>
            <a:ext cx="1396856" cy="270000"/>
          </a:xfrm>
          <a:prstGeom prst="rect">
            <a:avLst/>
          </a:prstGeom>
          <a:noFill/>
        </p:spPr>
        <p:txBody>
          <a:bodyPr wrap="square">
            <a:spAutoFit/>
          </a:bodyPr>
          <a:lstStyle/>
          <a:p>
            <a:pPr algn="ctr"/>
            <a:r>
              <a:rPr sz="900" b="0" i="0">
                <a:solidFill>
                  <a:srgbClr val="1A233A"/>
                </a:solidFill>
                <a:latin typeface="Times New Roman"/>
              </a:rPr>
              <a:t>HACNN</a:t>
            </a:r>
          </a:p>
        </p:txBody>
      </p:sp>
      <p:sp>
        <p:nvSpPr>
          <p:cNvPr id="82" name="Rectangle 81"/>
          <p:cNvSpPr/>
          <p:nvPr/>
        </p:nvSpPr>
        <p:spPr>
          <a:xfrm>
            <a:off x="4313221" y="2795840"/>
            <a:ext cx="1281917"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323221" y="2845840"/>
            <a:ext cx="1261917" cy="270000"/>
          </a:xfrm>
          <a:prstGeom prst="rect">
            <a:avLst/>
          </a:prstGeom>
          <a:noFill/>
        </p:spPr>
        <p:txBody>
          <a:bodyPr wrap="square">
            <a:spAutoFit/>
          </a:bodyPr>
          <a:lstStyle/>
          <a:p>
            <a:pPr algn="ctr"/>
            <a:r>
              <a:rPr sz="900" b="0" i="0">
                <a:solidFill>
                  <a:srgbClr val="1A233A"/>
                </a:solidFill>
                <a:latin typeface="Times New Roman"/>
              </a:rPr>
              <a:t>MSMT17</a:t>
            </a:r>
          </a:p>
        </p:txBody>
      </p:sp>
      <p:sp>
        <p:nvSpPr>
          <p:cNvPr id="84" name="Rectangle 83"/>
          <p:cNvSpPr/>
          <p:nvPr/>
        </p:nvSpPr>
        <p:spPr>
          <a:xfrm>
            <a:off x="5595138" y="2795840"/>
            <a:ext cx="1052521"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605138" y="2845840"/>
            <a:ext cx="1032521" cy="270000"/>
          </a:xfrm>
          <a:prstGeom prst="rect">
            <a:avLst/>
          </a:prstGeom>
          <a:noFill/>
        </p:spPr>
        <p:txBody>
          <a:bodyPr wrap="square">
            <a:spAutoFit/>
          </a:bodyPr>
          <a:lstStyle/>
          <a:p>
            <a:pPr algn="ctr"/>
            <a:r>
              <a:rPr sz="900" b="0" i="0">
                <a:solidFill>
                  <a:srgbClr val="1A233A"/>
                </a:solidFill>
                <a:latin typeface="Times New Roman"/>
              </a:rPr>
              <a:t>90.9%</a:t>
            </a:r>
          </a:p>
        </p:txBody>
      </p:sp>
      <p:sp>
        <p:nvSpPr>
          <p:cNvPr id="86" name="Rectangle 85"/>
          <p:cNvSpPr/>
          <p:nvPr/>
        </p:nvSpPr>
        <p:spPr>
          <a:xfrm>
            <a:off x="6647659" y="279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6657659" y="2845840"/>
            <a:ext cx="951558" cy="270000"/>
          </a:xfrm>
          <a:prstGeom prst="rect">
            <a:avLst/>
          </a:prstGeom>
          <a:noFill/>
        </p:spPr>
        <p:txBody>
          <a:bodyPr wrap="square">
            <a:spAutoFit/>
          </a:bodyPr>
          <a:lstStyle/>
          <a:p>
            <a:pPr algn="ctr"/>
            <a:r>
              <a:rPr sz="900" b="0" i="0">
                <a:solidFill>
                  <a:srgbClr val="1A233A"/>
                </a:solidFill>
                <a:latin typeface="Times New Roman"/>
              </a:rPr>
              <a:t>75.6%</a:t>
            </a:r>
          </a:p>
        </p:txBody>
      </p:sp>
      <p:sp>
        <p:nvSpPr>
          <p:cNvPr id="88" name="Rectangle 87"/>
          <p:cNvSpPr/>
          <p:nvPr/>
        </p:nvSpPr>
        <p:spPr>
          <a:xfrm>
            <a:off x="7619217" y="279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7629217" y="2845840"/>
            <a:ext cx="951558" cy="270000"/>
          </a:xfrm>
          <a:prstGeom prst="rect">
            <a:avLst/>
          </a:prstGeom>
          <a:noFill/>
        </p:spPr>
        <p:txBody>
          <a:bodyPr wrap="square">
            <a:spAutoFit/>
          </a:bodyPr>
          <a:lstStyle/>
          <a:p>
            <a:pPr algn="ctr"/>
            <a:r>
              <a:rPr sz="900" b="0" i="0">
                <a:solidFill>
                  <a:srgbClr val="1A233A"/>
                </a:solidFill>
                <a:latin typeface="Times New Roman"/>
              </a:rPr>
              <a:t>80.5%</a:t>
            </a:r>
          </a:p>
        </p:txBody>
      </p:sp>
      <p:sp>
        <p:nvSpPr>
          <p:cNvPr id="90" name="Rectangle 89"/>
          <p:cNvSpPr/>
          <p:nvPr/>
        </p:nvSpPr>
        <p:spPr>
          <a:xfrm>
            <a:off x="8590775" y="279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8600775" y="2845840"/>
            <a:ext cx="951558" cy="270000"/>
          </a:xfrm>
          <a:prstGeom prst="rect">
            <a:avLst/>
          </a:prstGeom>
          <a:noFill/>
        </p:spPr>
        <p:txBody>
          <a:bodyPr wrap="square">
            <a:spAutoFit/>
          </a:bodyPr>
          <a:lstStyle/>
          <a:p>
            <a:pPr algn="ctr"/>
            <a:r>
              <a:rPr sz="900" b="0" i="0">
                <a:solidFill>
                  <a:srgbClr val="1A233A"/>
                </a:solidFill>
                <a:latin typeface="Times New Roman"/>
              </a:rPr>
              <a:t>63.8%</a:t>
            </a:r>
          </a:p>
        </p:txBody>
      </p:sp>
      <p:sp>
        <p:nvSpPr>
          <p:cNvPr id="92" name="Rectangle 91"/>
          <p:cNvSpPr/>
          <p:nvPr/>
        </p:nvSpPr>
        <p:spPr>
          <a:xfrm>
            <a:off x="9562333" y="2795840"/>
            <a:ext cx="944570"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9572333" y="2845840"/>
            <a:ext cx="924570" cy="270000"/>
          </a:xfrm>
          <a:prstGeom prst="rect">
            <a:avLst/>
          </a:prstGeom>
          <a:noFill/>
        </p:spPr>
        <p:txBody>
          <a:bodyPr wrap="square">
            <a:spAutoFit/>
          </a:bodyPr>
          <a:lstStyle/>
          <a:p>
            <a:pPr algn="ctr"/>
            <a:r>
              <a:rPr sz="900" b="0" i="0">
                <a:solidFill>
                  <a:srgbClr val="1A233A"/>
                </a:solidFill>
                <a:latin typeface="Times New Roman"/>
              </a:rPr>
              <a:t>4.5 M</a:t>
            </a:r>
          </a:p>
        </p:txBody>
      </p:sp>
      <p:sp>
        <p:nvSpPr>
          <p:cNvPr id="94" name="Rectangle 93"/>
          <p:cNvSpPr/>
          <p:nvPr/>
        </p:nvSpPr>
        <p:spPr>
          <a:xfrm>
            <a:off x="10506903" y="2795840"/>
            <a:ext cx="1281922"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0516903" y="2845840"/>
            <a:ext cx="1261922" cy="270000"/>
          </a:xfrm>
          <a:prstGeom prst="rect">
            <a:avLst/>
          </a:prstGeom>
          <a:noFill/>
        </p:spPr>
        <p:txBody>
          <a:bodyPr wrap="square">
            <a:spAutoFit/>
          </a:bodyPr>
          <a:lstStyle/>
          <a:p>
            <a:pPr algn="ctr"/>
            <a:r>
              <a:rPr sz="900" b="0" i="0">
                <a:solidFill>
                  <a:srgbClr val="1A233A"/>
                </a:solidFill>
                <a:latin typeface="Times New Roman"/>
              </a:rPr>
              <a:t>~7 ms</a:t>
            </a:r>
          </a:p>
        </p:txBody>
      </p:sp>
      <p:sp>
        <p:nvSpPr>
          <p:cNvPr id="96" name="Rectangle 95"/>
          <p:cNvSpPr/>
          <p:nvPr/>
        </p:nvSpPr>
        <p:spPr>
          <a:xfrm>
            <a:off x="400000" y="3135840"/>
            <a:ext cx="2496365"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10000" y="3185840"/>
            <a:ext cx="2476365" cy="270000"/>
          </a:xfrm>
          <a:prstGeom prst="rect">
            <a:avLst/>
          </a:prstGeom>
          <a:noFill/>
        </p:spPr>
        <p:txBody>
          <a:bodyPr wrap="square">
            <a:spAutoFit/>
          </a:bodyPr>
          <a:lstStyle/>
          <a:p>
            <a:pPr algn="l"/>
            <a:r>
              <a:rPr sz="900" b="1" i="0">
                <a:solidFill>
                  <a:srgbClr val="7A4A00"/>
                </a:solidFill>
                <a:latin typeface="Times New Roman"/>
              </a:rPr>
              <a:t>MLFN</a:t>
            </a:r>
          </a:p>
        </p:txBody>
      </p:sp>
      <p:sp>
        <p:nvSpPr>
          <p:cNvPr id="98" name="Rectangle 97"/>
          <p:cNvSpPr/>
          <p:nvPr/>
        </p:nvSpPr>
        <p:spPr>
          <a:xfrm>
            <a:off x="2896365" y="3135840"/>
            <a:ext cx="1416856"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906365" y="3185840"/>
            <a:ext cx="1396856" cy="270000"/>
          </a:xfrm>
          <a:prstGeom prst="rect">
            <a:avLst/>
          </a:prstGeom>
          <a:noFill/>
        </p:spPr>
        <p:txBody>
          <a:bodyPr wrap="square">
            <a:spAutoFit/>
          </a:bodyPr>
          <a:lstStyle/>
          <a:p>
            <a:pPr algn="ctr"/>
            <a:r>
              <a:rPr sz="900" b="0" i="0">
                <a:solidFill>
                  <a:srgbClr val="1A233A"/>
                </a:solidFill>
                <a:latin typeface="Times New Roman"/>
              </a:rPr>
              <a:t>ResNet</a:t>
            </a:r>
          </a:p>
        </p:txBody>
      </p:sp>
      <p:sp>
        <p:nvSpPr>
          <p:cNvPr id="100" name="Rectangle 99"/>
          <p:cNvSpPr/>
          <p:nvPr/>
        </p:nvSpPr>
        <p:spPr>
          <a:xfrm>
            <a:off x="4313221" y="3135840"/>
            <a:ext cx="1281917"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4323221" y="3185840"/>
            <a:ext cx="1261917" cy="270000"/>
          </a:xfrm>
          <a:prstGeom prst="rect">
            <a:avLst/>
          </a:prstGeom>
          <a:noFill/>
        </p:spPr>
        <p:txBody>
          <a:bodyPr wrap="square">
            <a:spAutoFit/>
          </a:bodyPr>
          <a:lstStyle/>
          <a:p>
            <a:pPr algn="ctr"/>
            <a:r>
              <a:rPr sz="900" b="0" i="0">
                <a:solidFill>
                  <a:srgbClr val="1A233A"/>
                </a:solidFill>
                <a:latin typeface="Times New Roman"/>
              </a:rPr>
              <a:t>MSMT17</a:t>
            </a:r>
          </a:p>
        </p:txBody>
      </p:sp>
      <p:sp>
        <p:nvSpPr>
          <p:cNvPr id="102" name="Rectangle 101"/>
          <p:cNvSpPr/>
          <p:nvPr/>
        </p:nvSpPr>
        <p:spPr>
          <a:xfrm>
            <a:off x="5595138" y="3135840"/>
            <a:ext cx="1052521"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5605138" y="3185840"/>
            <a:ext cx="1032521" cy="270000"/>
          </a:xfrm>
          <a:prstGeom prst="rect">
            <a:avLst/>
          </a:prstGeom>
          <a:noFill/>
        </p:spPr>
        <p:txBody>
          <a:bodyPr wrap="square">
            <a:spAutoFit/>
          </a:bodyPr>
          <a:lstStyle/>
          <a:p>
            <a:pPr algn="ctr"/>
            <a:r>
              <a:rPr sz="900" b="0" i="0">
                <a:solidFill>
                  <a:srgbClr val="1A233A"/>
                </a:solidFill>
                <a:latin typeface="Times New Roman"/>
              </a:rPr>
              <a:t>90.0%</a:t>
            </a:r>
          </a:p>
        </p:txBody>
      </p:sp>
      <p:sp>
        <p:nvSpPr>
          <p:cNvPr id="104" name="Rectangle 103"/>
          <p:cNvSpPr/>
          <p:nvPr/>
        </p:nvSpPr>
        <p:spPr>
          <a:xfrm>
            <a:off x="6647659" y="313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6657659" y="3185840"/>
            <a:ext cx="951558" cy="270000"/>
          </a:xfrm>
          <a:prstGeom prst="rect">
            <a:avLst/>
          </a:prstGeom>
          <a:noFill/>
        </p:spPr>
        <p:txBody>
          <a:bodyPr wrap="square">
            <a:spAutoFit/>
          </a:bodyPr>
          <a:lstStyle/>
          <a:p>
            <a:pPr algn="ctr"/>
            <a:r>
              <a:rPr sz="900" b="0" i="0">
                <a:solidFill>
                  <a:srgbClr val="1A233A"/>
                </a:solidFill>
                <a:latin typeface="Times New Roman"/>
              </a:rPr>
              <a:t>74.3%</a:t>
            </a:r>
          </a:p>
        </p:txBody>
      </p:sp>
      <p:sp>
        <p:nvSpPr>
          <p:cNvPr id="106" name="Rectangle 105"/>
          <p:cNvSpPr/>
          <p:nvPr/>
        </p:nvSpPr>
        <p:spPr>
          <a:xfrm>
            <a:off x="7619217" y="313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7629217" y="3185840"/>
            <a:ext cx="951558" cy="270000"/>
          </a:xfrm>
          <a:prstGeom prst="rect">
            <a:avLst/>
          </a:prstGeom>
          <a:noFill/>
        </p:spPr>
        <p:txBody>
          <a:bodyPr wrap="square">
            <a:spAutoFit/>
          </a:bodyPr>
          <a:lstStyle/>
          <a:p>
            <a:pPr algn="ctr"/>
            <a:r>
              <a:rPr sz="900" b="0" i="0">
                <a:solidFill>
                  <a:srgbClr val="1A233A"/>
                </a:solidFill>
                <a:latin typeface="Times New Roman"/>
              </a:rPr>
              <a:t>81.0%</a:t>
            </a:r>
          </a:p>
        </p:txBody>
      </p:sp>
      <p:sp>
        <p:nvSpPr>
          <p:cNvPr id="108" name="Rectangle 107"/>
          <p:cNvSpPr/>
          <p:nvPr/>
        </p:nvSpPr>
        <p:spPr>
          <a:xfrm>
            <a:off x="8590775" y="3135840"/>
            <a:ext cx="971558"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600775" y="3185840"/>
            <a:ext cx="951558" cy="270000"/>
          </a:xfrm>
          <a:prstGeom prst="rect">
            <a:avLst/>
          </a:prstGeom>
          <a:noFill/>
        </p:spPr>
        <p:txBody>
          <a:bodyPr wrap="square">
            <a:spAutoFit/>
          </a:bodyPr>
          <a:lstStyle/>
          <a:p>
            <a:pPr algn="ctr"/>
            <a:r>
              <a:rPr sz="900" b="0" i="0">
                <a:solidFill>
                  <a:srgbClr val="1A233A"/>
                </a:solidFill>
                <a:latin typeface="Times New Roman"/>
              </a:rPr>
              <a:t>62.8%</a:t>
            </a:r>
          </a:p>
        </p:txBody>
      </p:sp>
      <p:sp>
        <p:nvSpPr>
          <p:cNvPr id="110" name="Rectangle 109"/>
          <p:cNvSpPr/>
          <p:nvPr/>
        </p:nvSpPr>
        <p:spPr>
          <a:xfrm>
            <a:off x="9562333" y="3135840"/>
            <a:ext cx="944570"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9572333" y="3185840"/>
            <a:ext cx="924570" cy="270000"/>
          </a:xfrm>
          <a:prstGeom prst="rect">
            <a:avLst/>
          </a:prstGeom>
          <a:noFill/>
        </p:spPr>
        <p:txBody>
          <a:bodyPr wrap="square">
            <a:spAutoFit/>
          </a:bodyPr>
          <a:lstStyle/>
          <a:p>
            <a:pPr algn="ctr"/>
            <a:r>
              <a:rPr sz="900" b="0" i="0">
                <a:solidFill>
                  <a:srgbClr val="1A233A"/>
                </a:solidFill>
                <a:latin typeface="Times New Roman"/>
              </a:rPr>
              <a:t>32 M</a:t>
            </a:r>
          </a:p>
        </p:txBody>
      </p:sp>
      <p:sp>
        <p:nvSpPr>
          <p:cNvPr id="112" name="Rectangle 111"/>
          <p:cNvSpPr/>
          <p:nvPr/>
        </p:nvSpPr>
        <p:spPr>
          <a:xfrm>
            <a:off x="10506903" y="3135840"/>
            <a:ext cx="1281922" cy="340000"/>
          </a:xfrm>
          <a:prstGeom prst="rect">
            <a:avLst/>
          </a:prstGeom>
          <a:solidFill>
            <a:srgbClr val="F2F4F7"/>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10516903" y="3185840"/>
            <a:ext cx="1261922" cy="270000"/>
          </a:xfrm>
          <a:prstGeom prst="rect">
            <a:avLst/>
          </a:prstGeom>
          <a:noFill/>
        </p:spPr>
        <p:txBody>
          <a:bodyPr wrap="square">
            <a:spAutoFit/>
          </a:bodyPr>
          <a:lstStyle/>
          <a:p>
            <a:pPr algn="ctr"/>
            <a:r>
              <a:rPr sz="900" b="0" i="0">
                <a:solidFill>
                  <a:srgbClr val="1A233A"/>
                </a:solidFill>
                <a:latin typeface="Times New Roman"/>
              </a:rPr>
              <a:t>~20 ms</a:t>
            </a:r>
          </a:p>
        </p:txBody>
      </p:sp>
      <p:sp>
        <p:nvSpPr>
          <p:cNvPr id="114" name="Rectangle 113"/>
          <p:cNvSpPr/>
          <p:nvPr/>
        </p:nvSpPr>
        <p:spPr>
          <a:xfrm>
            <a:off x="400000" y="3475840"/>
            <a:ext cx="2496365"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410000" y="3525840"/>
            <a:ext cx="2476365" cy="270000"/>
          </a:xfrm>
          <a:prstGeom prst="rect">
            <a:avLst/>
          </a:prstGeom>
          <a:noFill/>
        </p:spPr>
        <p:txBody>
          <a:bodyPr wrap="square">
            <a:spAutoFit/>
          </a:bodyPr>
          <a:lstStyle/>
          <a:p>
            <a:pPr algn="l"/>
            <a:r>
              <a:rPr sz="900" b="1" i="0">
                <a:solidFill>
                  <a:srgbClr val="A31F1F"/>
                </a:solidFill>
                <a:latin typeface="Times New Roman"/>
              </a:rPr>
              <a:t>CLIP-ReID (ViT)</a:t>
            </a:r>
          </a:p>
        </p:txBody>
      </p:sp>
      <p:sp>
        <p:nvSpPr>
          <p:cNvPr id="116" name="Rectangle 115"/>
          <p:cNvSpPr/>
          <p:nvPr/>
        </p:nvSpPr>
        <p:spPr>
          <a:xfrm>
            <a:off x="2896365" y="3475840"/>
            <a:ext cx="1416856"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2906365" y="3525840"/>
            <a:ext cx="1396856" cy="270000"/>
          </a:xfrm>
          <a:prstGeom prst="rect">
            <a:avLst/>
          </a:prstGeom>
          <a:noFill/>
        </p:spPr>
        <p:txBody>
          <a:bodyPr wrap="square">
            <a:spAutoFit/>
          </a:bodyPr>
          <a:lstStyle/>
          <a:p>
            <a:pPr algn="ctr"/>
            <a:r>
              <a:rPr sz="900" b="0" i="0">
                <a:solidFill>
                  <a:srgbClr val="1A233A"/>
                </a:solidFill>
                <a:latin typeface="Times New Roman"/>
              </a:rPr>
              <a:t>ViT-B/16</a:t>
            </a:r>
          </a:p>
        </p:txBody>
      </p:sp>
      <p:sp>
        <p:nvSpPr>
          <p:cNvPr id="118" name="Rectangle 117"/>
          <p:cNvSpPr/>
          <p:nvPr/>
        </p:nvSpPr>
        <p:spPr>
          <a:xfrm>
            <a:off x="4313221" y="3475840"/>
            <a:ext cx="1281917"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4323221" y="3525840"/>
            <a:ext cx="1261917" cy="270000"/>
          </a:xfrm>
          <a:prstGeom prst="rect">
            <a:avLst/>
          </a:prstGeom>
          <a:noFill/>
        </p:spPr>
        <p:txBody>
          <a:bodyPr wrap="square">
            <a:spAutoFit/>
          </a:bodyPr>
          <a:lstStyle/>
          <a:p>
            <a:pPr algn="ctr"/>
            <a:r>
              <a:rPr sz="900" b="0" i="0">
                <a:solidFill>
                  <a:srgbClr val="1A233A"/>
                </a:solidFill>
                <a:latin typeface="Times New Roman"/>
              </a:rPr>
              <a:t>Market-1501</a:t>
            </a:r>
          </a:p>
        </p:txBody>
      </p:sp>
      <p:sp>
        <p:nvSpPr>
          <p:cNvPr id="120" name="Rectangle 119"/>
          <p:cNvSpPr/>
          <p:nvPr/>
        </p:nvSpPr>
        <p:spPr>
          <a:xfrm>
            <a:off x="5595138" y="3475840"/>
            <a:ext cx="1052521"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605138" y="3525840"/>
            <a:ext cx="1032521" cy="270000"/>
          </a:xfrm>
          <a:prstGeom prst="rect">
            <a:avLst/>
          </a:prstGeom>
          <a:noFill/>
        </p:spPr>
        <p:txBody>
          <a:bodyPr wrap="square">
            <a:spAutoFit/>
          </a:bodyPr>
          <a:lstStyle/>
          <a:p>
            <a:pPr algn="ctr"/>
            <a:r>
              <a:rPr sz="900" b="1" i="0">
                <a:solidFill>
                  <a:srgbClr val="1A7A3C"/>
                </a:solidFill>
                <a:latin typeface="Times New Roman"/>
              </a:rPr>
              <a:t>94.1%</a:t>
            </a:r>
          </a:p>
        </p:txBody>
      </p:sp>
      <p:sp>
        <p:nvSpPr>
          <p:cNvPr id="122" name="Rectangle 121"/>
          <p:cNvSpPr/>
          <p:nvPr/>
        </p:nvSpPr>
        <p:spPr>
          <a:xfrm>
            <a:off x="6647659" y="347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6657659" y="3525840"/>
            <a:ext cx="951558" cy="270000"/>
          </a:xfrm>
          <a:prstGeom prst="rect">
            <a:avLst/>
          </a:prstGeom>
          <a:noFill/>
        </p:spPr>
        <p:txBody>
          <a:bodyPr wrap="square">
            <a:spAutoFit/>
          </a:bodyPr>
          <a:lstStyle/>
          <a:p>
            <a:pPr algn="ctr"/>
            <a:r>
              <a:rPr sz="900" b="1" i="0">
                <a:solidFill>
                  <a:srgbClr val="1A7A3C"/>
                </a:solidFill>
                <a:latin typeface="Times New Roman"/>
              </a:rPr>
              <a:t>87.4%</a:t>
            </a:r>
          </a:p>
        </p:txBody>
      </p:sp>
      <p:sp>
        <p:nvSpPr>
          <p:cNvPr id="124" name="Rectangle 123"/>
          <p:cNvSpPr/>
          <p:nvPr/>
        </p:nvSpPr>
        <p:spPr>
          <a:xfrm>
            <a:off x="7619217" y="347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7629217" y="3525840"/>
            <a:ext cx="951558" cy="270000"/>
          </a:xfrm>
          <a:prstGeom prst="rect">
            <a:avLst/>
          </a:prstGeom>
          <a:noFill/>
        </p:spPr>
        <p:txBody>
          <a:bodyPr wrap="square">
            <a:spAutoFit/>
          </a:bodyPr>
          <a:lstStyle/>
          <a:p>
            <a:pPr algn="ctr"/>
            <a:r>
              <a:rPr sz="900" b="1" i="0">
                <a:solidFill>
                  <a:srgbClr val="1A7A3C"/>
                </a:solidFill>
                <a:latin typeface="Times New Roman"/>
              </a:rPr>
              <a:t>89.8%</a:t>
            </a:r>
          </a:p>
        </p:txBody>
      </p:sp>
      <p:sp>
        <p:nvSpPr>
          <p:cNvPr id="126" name="Rectangle 125"/>
          <p:cNvSpPr/>
          <p:nvPr/>
        </p:nvSpPr>
        <p:spPr>
          <a:xfrm>
            <a:off x="8590775" y="3475840"/>
            <a:ext cx="971558"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8600775" y="3525840"/>
            <a:ext cx="951558" cy="270000"/>
          </a:xfrm>
          <a:prstGeom prst="rect">
            <a:avLst/>
          </a:prstGeom>
          <a:noFill/>
        </p:spPr>
        <p:txBody>
          <a:bodyPr wrap="square">
            <a:spAutoFit/>
          </a:bodyPr>
          <a:lstStyle/>
          <a:p>
            <a:pPr algn="ctr"/>
            <a:r>
              <a:rPr sz="900" b="1" i="0">
                <a:solidFill>
                  <a:srgbClr val="1A7A3C"/>
                </a:solidFill>
                <a:latin typeface="Times New Roman"/>
              </a:rPr>
              <a:t>80.0%</a:t>
            </a:r>
          </a:p>
        </p:txBody>
      </p:sp>
      <p:sp>
        <p:nvSpPr>
          <p:cNvPr id="128" name="Rectangle 127"/>
          <p:cNvSpPr/>
          <p:nvPr/>
        </p:nvSpPr>
        <p:spPr>
          <a:xfrm>
            <a:off x="9562333" y="3475840"/>
            <a:ext cx="944570"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9572333" y="3525840"/>
            <a:ext cx="924570" cy="270000"/>
          </a:xfrm>
          <a:prstGeom prst="rect">
            <a:avLst/>
          </a:prstGeom>
          <a:noFill/>
        </p:spPr>
        <p:txBody>
          <a:bodyPr wrap="square">
            <a:spAutoFit/>
          </a:bodyPr>
          <a:lstStyle/>
          <a:p>
            <a:pPr algn="ctr"/>
            <a:r>
              <a:rPr sz="900" b="1" i="0">
                <a:solidFill>
                  <a:srgbClr val="1A7A3C"/>
                </a:solidFill>
                <a:latin typeface="Times New Roman"/>
              </a:rPr>
              <a:t>86 M</a:t>
            </a:r>
          </a:p>
        </p:txBody>
      </p:sp>
      <p:sp>
        <p:nvSpPr>
          <p:cNvPr id="130" name="Rectangle 129"/>
          <p:cNvSpPr/>
          <p:nvPr/>
        </p:nvSpPr>
        <p:spPr>
          <a:xfrm>
            <a:off x="10506903" y="3475840"/>
            <a:ext cx="1281922" cy="340000"/>
          </a:xfrm>
          <a:prstGeom prst="rect">
            <a:avLst/>
          </a:prstGeom>
          <a:solidFill>
            <a:srgbClr val="FFFFF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10516903" y="3525840"/>
            <a:ext cx="1261922" cy="270000"/>
          </a:xfrm>
          <a:prstGeom prst="rect">
            <a:avLst/>
          </a:prstGeom>
          <a:noFill/>
        </p:spPr>
        <p:txBody>
          <a:bodyPr wrap="square">
            <a:spAutoFit/>
          </a:bodyPr>
          <a:lstStyle/>
          <a:p>
            <a:pPr algn="ctr"/>
            <a:r>
              <a:rPr sz="900" b="1" i="0">
                <a:solidFill>
                  <a:srgbClr val="1A7A3C"/>
                </a:solidFill>
                <a:latin typeface="Times New Roman"/>
              </a:rPr>
              <a:t>~55 ms</a:t>
            </a:r>
          </a:p>
        </p:txBody>
      </p:sp>
      <p:sp>
        <p:nvSpPr>
          <p:cNvPr id="132" name="TextBox 131"/>
          <p:cNvSpPr txBox="1"/>
          <p:nvPr/>
        </p:nvSpPr>
        <p:spPr>
          <a:xfrm>
            <a:off x="400000" y="3875840"/>
            <a:ext cx="11388825" cy="200000"/>
          </a:xfrm>
          <a:prstGeom prst="rect">
            <a:avLst/>
          </a:prstGeom>
          <a:noFill/>
        </p:spPr>
        <p:txBody>
          <a:bodyPr wrap="square">
            <a:spAutoFit/>
          </a:bodyPr>
          <a:lstStyle/>
          <a:p>
            <a:pPr algn="l"/>
            <a:r>
              <a:rPr sz="800" b="0" i="1">
                <a:solidFill>
                  <a:srgbClr val="555555"/>
                </a:solidFill>
                <a:latin typeface="Times New Roman"/>
              </a:rPr>
              <a:t>Rank-1 / mAP from published papers. Speed = approximate CPU inference per crop (256×128 px, single image, no batching). Duke = DukeMTMC-reID. All models used with BoT-SORT tracker and finetuned YOLO11x detector in this experiment. CLIP-ReID trained on Market-1501 only (no MSMT17 variant); LMBN trained on DukeMTMC only.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384</TotalTime>
  <Words>1099</Words>
  <Application>Microsoft Macintosh PowerPoint</Application>
  <PresentationFormat>Custom</PresentationFormat>
  <Paragraphs>174</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Arial</vt:lpstr>
      <vt:lpstr>Calibri</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Amir Hosein Taherkhani</cp:lastModifiedBy>
  <cp:revision>33</cp:revision>
  <dcterms:created xsi:type="dcterms:W3CDTF">2013-01-27T09:14:16Z</dcterms:created>
  <dcterms:modified xsi:type="dcterms:W3CDTF">2026-07-13T15:43:49Z</dcterms:modified>
  <cp:category/>
</cp:coreProperties>
</file>