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3" r:id="rId4"/>
    <p:sldId id="260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702"/>
  </p:normalViewPr>
  <p:slideViewPr>
    <p:cSldViewPr snapToGrid="0" snapToObjects="1">
      <p:cViewPr varScale="1">
        <p:scale>
          <a:sx n="113" d="100"/>
          <a:sy n="113" d="100"/>
        </p:scale>
        <p:origin x="7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8052" y="2353733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Limitations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Limitations — Priority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08037" y="1728479"/>
            <a:ext cx="7335922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1908" y="1775758"/>
            <a:ext cx="89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8316" y="1792487"/>
            <a:ext cx="2104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4549" y="1823876"/>
            <a:ext cx="3173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</a:t>
            </a:r>
            <a:endParaRPr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08037" y="2203967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82513" y="2291669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316" y="2267975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too small (YOLOv8s)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549" y="2299364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capacity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08037" y="2688862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82513" y="2776564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38316" y="2752870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Tracker is IoU-only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4549" y="2784259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switches on crossing paths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08037" y="3173757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82513" y="3261459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38316" y="3237765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 weak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4549" y="3269154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Resolved by #2; add class weighting if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8037" y="3658652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82513" y="3736947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38316" y="3713253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two classes</a:t>
            </a:r>
            <a:endParaRPr sz="1250" b="0" dirty="0">
              <a:solidFill>
                <a:srgbClr val="1A23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4549" y="3744642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detecting cyclists, scooters, etc.</a:t>
            </a:r>
            <a:endParaRPr sz="1250" b="0" dirty="0">
              <a:solidFill>
                <a:srgbClr val="1A23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1E231-23E3-59C6-1B02-533145D2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E38F24-C640-471B-6CE3-D58C4DDB8BB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B7C4F-6AED-A423-7CF1-AB85BDDB58B6}"/>
              </a:ext>
            </a:extLst>
          </p:cNvPr>
          <p:cNvSpPr txBox="1"/>
          <p:nvPr/>
        </p:nvSpPr>
        <p:spPr>
          <a:xfrm>
            <a:off x="333692" y="17663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m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endParaRPr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C2008B-1046-14DB-BE46-BB132BD5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74311"/>
              </p:ext>
            </p:extLst>
          </p:nvPr>
        </p:nvGraphicFramePr>
        <p:xfrm>
          <a:off x="2031470" y="1433877"/>
          <a:ext cx="8125884" cy="70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063615431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424683372"/>
                    </a:ext>
                  </a:extLst>
                </a:gridCol>
              </a:tblGrid>
              <a:tr h="33156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11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26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1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Deploying on a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GPU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Jetson hardware.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Deploying on a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Raspberry Pi or CPU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570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E45C79-B96C-2C6F-F8C7-F923DA56C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63932"/>
              </p:ext>
            </p:extLst>
          </p:nvPr>
        </p:nvGraphicFramePr>
        <p:xfrm>
          <a:off x="2045122" y="2851197"/>
          <a:ext cx="812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497011166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243194349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827243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scale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11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26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81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09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1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72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7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56.92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71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501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Tracker</a:t>
            </a:r>
            <a:r>
              <a:rPr lang="en-US" sz="2400" b="1" dirty="0">
                <a:solidFill>
                  <a:srgbClr val="FFFFFF"/>
                </a:solidFill>
              </a:rPr>
              <a:t> algorithms</a:t>
            </a:r>
            <a:endParaRPr sz="2400" b="1" dirty="0">
              <a:solidFill>
                <a:srgbClr val="FFFFFF"/>
              </a:solidFill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3278A10-D29C-6257-5C0F-C33698E95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81901"/>
              </p:ext>
            </p:extLst>
          </p:nvPr>
        </p:nvGraphicFramePr>
        <p:xfrm>
          <a:off x="1664339" y="1492101"/>
          <a:ext cx="8183551" cy="32708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5599">
                  <a:extLst>
                    <a:ext uri="{9D8B030D-6E8A-4147-A177-3AD203B41FA5}">
                      <a16:colId xmlns:a16="http://schemas.microsoft.com/office/drawing/2014/main" val="722453611"/>
                    </a:ext>
                  </a:extLst>
                </a:gridCol>
                <a:gridCol w="2241089">
                  <a:extLst>
                    <a:ext uri="{9D8B030D-6E8A-4147-A177-3AD203B41FA5}">
                      <a16:colId xmlns:a16="http://schemas.microsoft.com/office/drawing/2014/main" val="218411930"/>
                    </a:ext>
                  </a:extLst>
                </a:gridCol>
                <a:gridCol w="3176863">
                  <a:extLst>
                    <a:ext uri="{9D8B030D-6E8A-4147-A177-3AD203B41FA5}">
                      <a16:colId xmlns:a16="http://schemas.microsoft.com/office/drawing/2014/main" val="1351102178"/>
                    </a:ext>
                  </a:extLst>
                </a:gridCol>
              </a:tblGrid>
              <a:tr h="22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ByteTrack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BoT-SORT</a:t>
                      </a: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360385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approach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Motion-only (Kalman filter)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+ appearance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ReID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embeddings)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877196389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motion compensation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787175098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Appearance/ReID matching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3745010551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Faster, lighter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Slower, heavier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006176518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 with to crossing objects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well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266198846"/>
                  </a:ext>
                </a:extLst>
              </a:tr>
              <a:tr h="57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suited for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camera, speed-critical, </a:t>
                      </a:r>
                      <a:r>
                        <a:rPr lang="en-US" sz="14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visually similar objects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Moving camera, </a:t>
                      </a:r>
                      <a:r>
                        <a:rPr lang="en-US" sz="14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higher ID accuracy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can afford compute cost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148689507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to run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complex, more moving parts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1105874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12" y="136005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VisDrone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12" y="167932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Diverse drone overhead, multi-city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12" y="199860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Stanford Drone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12" y="231788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Fixed overhead — closest to our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12" y="263716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UA-DETRAC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12" y="295644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140k+ frames, 100+ real intersections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32" y="327571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COWC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12" y="359499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Aerial cars, 6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12" y="391427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CrowdHuman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12" y="42335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Dense, occluded pedestrians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12" y="455283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WiderPerson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12" y="487210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Overhead + elevated pedestrian scenes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Limitation 1 — Model Too 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YOLOv8s has only ~11 M parameters. It can speciali</a:t>
            </a:r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z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e on one camera but lacks capacity for the variation in lighting, camera height, vehicle type, and pedestrian density found across many cameras. Performance dropped on any footage outside the training camera.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Trained four YOLO11 model sizes on a diverse 32 k-image dataset:
  •  YOLO11s:  9.4 M params  •  YOLO11m: 20.1 M params
  •  YOLO11l: 25.3 M params  •  YOLO11x: 56.9 M params
All trained up to 150 epochs (patience=30) on UNH Premise A100.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1A7A3C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mAP50 improved with model size:
  YOLO11s  0.631   →   YOLO11m  0.671
  YOLO11l  0.677   →   YOLO11x  0.689
Recall rose from 0.561 (s) to 0.626 (x). Precision stable (~0.80 across all sizes).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Limitation 2 — Training Data Too Narrow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The model converged on that narrow distribution and generali</a:t>
            </a:r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z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ed poorly to </a:t>
            </a:r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varying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lighting condition, or scene density.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33A"/>
                </a:solidFill>
                <a:latin typeface="Times New Roman"/>
              </a:rPr>
              <a:t>Merged 6 diverse public datasets into a unified training set:
  •  </a:t>
            </a:r>
            <a:r>
              <a:rPr sz="1200" b="0" i="0" dirty="0" err="1">
                <a:solidFill>
                  <a:srgbClr val="1A233A"/>
                </a:solidFill>
                <a:latin typeface="Times New Roman"/>
              </a:rPr>
              <a:t>VisDrone</a:t>
            </a:r>
            <a:r>
              <a:rPr sz="1200" b="0" i="0" dirty="0">
                <a:solidFill>
                  <a:srgbClr val="1A233A"/>
                </a:solidFill>
                <a:latin typeface="Times New Roman"/>
              </a:rPr>
              <a:t> 2019       drone overhead, multi-city          (5 000 images)
  •  </a:t>
            </a:r>
            <a:r>
              <a:rPr sz="1200" b="0" i="0" dirty="0" err="1">
                <a:solidFill>
                  <a:srgbClr val="1A233A"/>
                </a:solidFill>
                <a:latin typeface="Times New Roman"/>
              </a:rPr>
              <a:t>WiderPerson</a:t>
            </a:r>
            <a:r>
              <a:rPr sz="1200" b="0" i="0" dirty="0">
                <a:solidFill>
                  <a:srgbClr val="1A233A"/>
                </a:solidFill>
                <a:latin typeface="Times New Roman"/>
              </a:rPr>
              <a:t>         overhead + elevated pedestrians      (5 000)
  •  UA-DETRAC-10K      100+ real intersections              (5 000)
  •  </a:t>
            </a:r>
            <a:r>
              <a:rPr sz="1200" b="0" i="0" dirty="0" err="1">
                <a:solidFill>
                  <a:srgbClr val="1A233A"/>
                </a:solidFill>
                <a:latin typeface="Times New Roman"/>
              </a:rPr>
              <a:t>CrowdHuman</a:t>
            </a:r>
            <a:r>
              <a:rPr sz="1200" b="0" i="0" dirty="0">
                <a:solidFill>
                  <a:srgbClr val="1A233A"/>
                </a:solidFill>
                <a:latin typeface="Times New Roman"/>
              </a:rPr>
              <a:t>          dense, occluded pedestrians          (2 101)
  •  COWC                aerial cars, 6 cities               (  665)
  •  COCO                person + vehicle diversity           (2 350)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1A7A3C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Car and person detection are more robust across all 12 benchmark videos.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Limitation 3 — Tracker Is IoU-Only (ByteTrack)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ByteTrack matches tracks purely by bounding-box overlap (IoU). When two people cross paths or a vehicle is briefly occluded, the tracker has no way to distinguish them by appearance — it re-assigns the wrong ID, causing ID switches and inflated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Replaced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ByteTrack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with BoT-SORT (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BoxMOT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18.0.0):
  •  Motion association: Kalman filter +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IoU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(same as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ByteTrack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)
  •  Appearance re-ID: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OSNet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x0.25 MSMT17 embedding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1A7A3C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BoT-SORT with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ReID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maintains track identity through brief occlusions and object crossings where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ByteTrack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would switch IDs.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Limitation 4 — Person Detection Too Weak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The original training data was heavily car-biased. Pedestrians were underrepresented, especially small (distant) or partially occluded ones. The model rarely detected pedestrians outside the original camera's specific viewpoint and lighting.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Addressed through training data expansion (Limitation 2):
  •  CrowdHuman (2 101 images): dense, heavily occluded pedestrian scenes
  •  WiderPerson (5 000 images): overhead and elevated pedestrian contexts,
       including partially visible persons and cyclists mapped to person class
Class weighting (cls=1.0) applied during training to prevent car detections from dominating the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1A7A3C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Person recall improved across all model sizes:
  YOLO</a:t>
            </a:r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8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s  0.561   →   YOLO11x  0.626  (+11.6 %)
Precision also improved (0.798 → 0.818). Person detections are more consistent across diverse benchmark videos (crowded streets, aerial views, varied lighting).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Limitation 5 — Only Two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The original model detected only "person" (0) and "car" (1). Cyclists, scooters, motorcycles, buses, and trucks were either missed entirely or misclassified — producing wrong counts and making the system unsuitable for general intersection monitoring where vehicle-type breakdown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Two-stage approach:</a:t>
            </a:r>
            <a:endParaRPr lang="en-US" sz="1400" dirty="0">
              <a:solidFill>
                <a:srgbClr val="1A233A"/>
              </a:solidFill>
              <a:latin typeface="Times New Roman"/>
            </a:endParaRPr>
          </a:p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motorcycle(3), bus(5), truck(7) → car;  person(0) → person
 </a:t>
            </a:r>
            <a:r>
              <a:rPr sz="1400" b="0" i="0" dirty="0" err="1">
                <a:solidFill>
                  <a:srgbClr val="1A233A"/>
                </a:solidFill>
                <a:latin typeface="Times New Roman"/>
              </a:rPr>
              <a:t>WiderPerson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(riders → person), COWC (aerial cars)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1A7A3C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The pipeline now handles motorcycles, buses, trucks, and vans</a:t>
            </a:r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;</a:t>
            </a:r>
            <a:r>
              <a:rPr sz="1400" b="0" i="0" dirty="0">
                <a:solidFill>
                  <a:srgbClr val="1A233A"/>
                </a:solidFill>
                <a:latin typeface="Times New Roman"/>
              </a:rPr>
              <a:t> all counted under car as overhead-view vehicles. Cyclists and scooter riders are captured under person</a:t>
            </a:r>
            <a:r>
              <a:rPr lang="en-US" sz="1400" dirty="0">
                <a:solidFill>
                  <a:srgbClr val="1A233A"/>
                </a:solidFill>
                <a:latin typeface="Times New Roman"/>
              </a:rPr>
              <a:t>.</a:t>
            </a:r>
            <a:endParaRPr sz="1400" b="0" i="0" dirty="0">
              <a:solidFill>
                <a:srgbClr val="1A233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Open Issue — ROI Re-Entry Double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9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20000" y="1225840"/>
            <a:ext cx="1660000" cy="307777"/>
          </a:xfrm>
          <a:prstGeom prst="rect">
            <a:avLst/>
          </a:prstGeom>
          <a:solidFill>
            <a:srgbClr val="A31F1F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1235840"/>
            <a:ext cx="958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A"/>
                </a:solidFill>
                <a:latin typeface="Times New Roman"/>
              </a:rPr>
              <a:t>When a person exits the ROI and re-enters from a slightly different position, the ghost zone placed at the exit point does not cover the new entry location. The object is counted a second time. This is a geometric limitation of point-based ghost zones, independent of model accuracy or tracker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830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20000" y="2860840"/>
            <a:ext cx="1660000" cy="307777"/>
          </a:xfrm>
          <a:prstGeom prst="rect">
            <a:avLst/>
          </a:prstGeom>
          <a:solidFill>
            <a:srgbClr val="1A508A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70840"/>
            <a:ext cx="95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1A233A"/>
                </a:solidFill>
                <a:latin typeface="Times New Roman"/>
              </a:rPr>
              <a:t>Hard rules that forces the ID to be like previous IDs, if an object appears at the middle of the frame (not from edges). </a:t>
            </a:r>
            <a:r>
              <a:rPr lang="en-US" sz="1400" dirty="0">
                <a:solidFill>
                  <a:srgbClr val="1A233A"/>
                </a:solidFill>
                <a:latin typeface="Times New Roman"/>
              </a:rPr>
              <a:t>Cosine similarity can be used after feeding the box to </a:t>
            </a:r>
            <a:r>
              <a:rPr lang="en-US" sz="1400" dirty="0" err="1">
                <a:solidFill>
                  <a:srgbClr val="1A233A"/>
                </a:solidFill>
                <a:latin typeface="Times New Roman"/>
              </a:rPr>
              <a:t>OSNet</a:t>
            </a:r>
            <a:r>
              <a:rPr lang="en-US" sz="1400" dirty="0">
                <a:solidFill>
                  <a:srgbClr val="1A233A"/>
                </a:solidFill>
                <a:latin typeface="Times New Roman"/>
              </a:rPr>
              <a:t> x0.25 MSMT17 embedding. </a:t>
            </a:r>
            <a:endParaRPr sz="1400" b="0" i="0" dirty="0">
              <a:solidFill>
                <a:srgbClr val="1A233A"/>
              </a:solidFill>
              <a:latin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0000" y="4465840"/>
            <a:ext cx="11388825" cy="158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20000" y="4495840"/>
            <a:ext cx="1660000" cy="307777"/>
          </a:xfrm>
          <a:prstGeom prst="rect">
            <a:avLst/>
          </a:prstGeom>
          <a:solidFill>
            <a:srgbClr val="7A4A00"/>
          </a:solidFill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505840"/>
            <a:ext cx="9588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33A"/>
                </a:solidFill>
                <a:latin typeface="Times New Roman"/>
              </a:rPr>
              <a:t>STATUS: NOT YET IMPLEMENTED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Model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65840"/>
            <a:ext cx="5629412" cy="38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40000" y="1235840"/>
            <a:ext cx="5549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Fine-tuned — 32 k-image overhead dataset (7 sources)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1545840"/>
            <a:ext cx="200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20000" y="159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0000" y="1545840"/>
            <a:ext cx="87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420000" y="159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mAP50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0000" y="1545840"/>
            <a:ext cx="101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290000" y="159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mAP50-95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0000" y="1545840"/>
            <a:ext cx="85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00000" y="159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Prec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0000" y="1545840"/>
            <a:ext cx="899412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150000" y="159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000" y="1875840"/>
            <a:ext cx="200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20000" y="194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0000" y="1875840"/>
            <a:ext cx="87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420000" y="194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0.631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0000" y="1875840"/>
            <a:ext cx="101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3290000" y="194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0000" y="1875840"/>
            <a:ext cx="85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300000" y="194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0.798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0000" y="1875840"/>
            <a:ext cx="899412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150000" y="194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0.561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00" y="2305840"/>
            <a:ext cx="20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20000" y="237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0000" y="2305840"/>
            <a:ext cx="87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2420000" y="237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0.671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0000" y="2305840"/>
            <a:ext cx="101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3290000" y="237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0000" y="2305840"/>
            <a:ext cx="8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4300000" y="237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0.816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0000" y="2305840"/>
            <a:ext cx="899412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5150000" y="237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0.606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000" y="2735840"/>
            <a:ext cx="200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20000" y="280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00000" y="2735840"/>
            <a:ext cx="87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2420000" y="280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0.677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0000" y="2735840"/>
            <a:ext cx="101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3290000" y="280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0.407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0000" y="2735840"/>
            <a:ext cx="85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4300000" y="280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0.816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0000" y="2735840"/>
            <a:ext cx="899412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5150000" y="280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0.612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0000" y="3165840"/>
            <a:ext cx="20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420000" y="323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00000" y="3165840"/>
            <a:ext cx="87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2420000" y="323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0.689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0000" y="3165840"/>
            <a:ext cx="101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3290000" y="323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0.416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0000" y="3165840"/>
            <a:ext cx="8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4300000" y="323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0.818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30000" y="3165840"/>
            <a:ext cx="899412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5150000" y="323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7A3C"/>
                </a:solidFill>
                <a:latin typeface="Times New Roman"/>
              </a:rPr>
              <a:t>0.626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59412" y="1165840"/>
            <a:ext cx="5629412" cy="380000"/>
          </a:xfrm>
          <a:prstGeom prst="rect">
            <a:avLst/>
          </a:prstGeom>
          <a:solidFill>
            <a:srgbClr val="1A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6199412" y="1235840"/>
            <a:ext cx="5549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COCO Pretrained — COCO classes remapped at inference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59412" y="1545840"/>
            <a:ext cx="200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6179412" y="159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9412" y="1545840"/>
            <a:ext cx="87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8179412" y="159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mAP50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9412" y="1545840"/>
            <a:ext cx="101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9049412" y="159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mAP50-95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39412" y="1545840"/>
            <a:ext cx="850000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10059412" y="159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Prec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89412" y="1545840"/>
            <a:ext cx="899412" cy="330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10909412" y="159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59412" y="1875840"/>
            <a:ext cx="200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6179412" y="194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59412" y="1875840"/>
            <a:ext cx="87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8179412" y="194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29412" y="1875840"/>
            <a:ext cx="101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9049412" y="194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0.148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39412" y="1875840"/>
            <a:ext cx="85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10059412" y="194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0.541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89412" y="1875840"/>
            <a:ext cx="899412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10909412" y="194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59412" y="2305840"/>
            <a:ext cx="20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TextBox 78"/>
          <p:cNvSpPr txBox="1"/>
          <p:nvPr/>
        </p:nvSpPr>
        <p:spPr>
          <a:xfrm>
            <a:off x="6179412" y="237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59412" y="2305840"/>
            <a:ext cx="87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8179412" y="237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0.354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29412" y="2305840"/>
            <a:ext cx="101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9049412" y="237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0.172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39412" y="2305840"/>
            <a:ext cx="8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TextBox 84"/>
          <p:cNvSpPr txBox="1"/>
          <p:nvPr/>
        </p:nvSpPr>
        <p:spPr>
          <a:xfrm>
            <a:off x="10059412" y="237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0.555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89412" y="2305840"/>
            <a:ext cx="899412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10909412" y="237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0.366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59412" y="2735840"/>
            <a:ext cx="200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9" name="TextBox 88"/>
          <p:cNvSpPr txBox="1"/>
          <p:nvPr/>
        </p:nvSpPr>
        <p:spPr>
          <a:xfrm>
            <a:off x="6179412" y="280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59412" y="2735840"/>
            <a:ext cx="87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TextBox 90"/>
          <p:cNvSpPr txBox="1"/>
          <p:nvPr/>
        </p:nvSpPr>
        <p:spPr>
          <a:xfrm>
            <a:off x="8179412" y="280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0.368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29412" y="2735840"/>
            <a:ext cx="101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3" name="TextBox 92"/>
          <p:cNvSpPr txBox="1"/>
          <p:nvPr/>
        </p:nvSpPr>
        <p:spPr>
          <a:xfrm>
            <a:off x="9049412" y="280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0.180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39412" y="2735840"/>
            <a:ext cx="850000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5" name="TextBox 94"/>
          <p:cNvSpPr txBox="1"/>
          <p:nvPr/>
        </p:nvSpPr>
        <p:spPr>
          <a:xfrm>
            <a:off x="10059412" y="280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0.577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889412" y="2735840"/>
            <a:ext cx="899412" cy="430000"/>
          </a:xfrm>
          <a:prstGeom prst="rect">
            <a:avLst/>
          </a:prstGeom>
          <a:solidFill>
            <a:srgbClr val="F2F4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TextBox 96"/>
          <p:cNvSpPr txBox="1"/>
          <p:nvPr/>
        </p:nvSpPr>
        <p:spPr>
          <a:xfrm>
            <a:off x="10909412" y="280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  <a:latin typeface="Times New Roman"/>
              </a:rPr>
              <a:t>0.375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59412" y="3165840"/>
            <a:ext cx="20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9" name="TextBox 98"/>
          <p:cNvSpPr txBox="1"/>
          <p:nvPr/>
        </p:nvSpPr>
        <p:spPr>
          <a:xfrm>
            <a:off x="6179412" y="3235840"/>
            <a:ext cx="19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Times New Roman"/>
              </a:rPr>
              <a:t>YOLO11x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59412" y="3165840"/>
            <a:ext cx="87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1" name="TextBox 100"/>
          <p:cNvSpPr txBox="1"/>
          <p:nvPr/>
        </p:nvSpPr>
        <p:spPr>
          <a:xfrm>
            <a:off x="8179412" y="3235840"/>
            <a:ext cx="8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0.255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29412" y="3165840"/>
            <a:ext cx="101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TextBox 102"/>
          <p:cNvSpPr txBox="1"/>
          <p:nvPr/>
        </p:nvSpPr>
        <p:spPr>
          <a:xfrm>
            <a:off x="9049412" y="3235840"/>
            <a:ext cx="97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0.140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39412" y="3165840"/>
            <a:ext cx="8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5" name="TextBox 104"/>
          <p:cNvSpPr txBox="1"/>
          <p:nvPr/>
        </p:nvSpPr>
        <p:spPr>
          <a:xfrm>
            <a:off x="10059412" y="3235840"/>
            <a:ext cx="81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0.486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89412" y="3165840"/>
            <a:ext cx="899412" cy="43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7" name="TextBox 106"/>
          <p:cNvSpPr txBox="1"/>
          <p:nvPr/>
        </p:nvSpPr>
        <p:spPr>
          <a:xfrm>
            <a:off x="10909412" y="3235840"/>
            <a:ext cx="8594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  <a:latin typeface="Times New Roman"/>
              </a:rPr>
              <a:t>0.276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1117</Words>
  <Application>Microsoft Macintosh PowerPoint</Application>
  <PresentationFormat>Custom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 Hosein Taherkhani</cp:lastModifiedBy>
  <cp:revision>29</cp:revision>
  <dcterms:created xsi:type="dcterms:W3CDTF">2013-01-27T09:14:16Z</dcterms:created>
  <dcterms:modified xsi:type="dcterms:W3CDTF">2026-07-08T16:30:19Z</dcterms:modified>
  <cp:category/>
</cp:coreProperties>
</file>